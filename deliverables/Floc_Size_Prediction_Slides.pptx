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122db28-292b-de11-9101-9902a0bb56d8}">
          <p14:sldIdLst>
            <p14:sldId id="256"/>
            <p14:sldId id="257"/>
          </p14:sldIdLst>
        </p14:section>
        <p14:section name="Background" id="{3e6e5554-a96b-999b-d2d4-9dbb5978c920}">
          <p14:sldIdLst>
            <p14:sldId id="258"/>
            <p14:sldId id="259"/>
          </p14:sldIdLst>
        </p14:section>
        <p14:section name="Approach" id="{2e10fca3-020b-c95b-96ae-179bc34d2a9f}">
          <p14:sldIdLst>
            <p14:sldId id="260"/>
            <p14:sldId id="261"/>
            <p14:sldId id="262"/>
          </p14:sldIdLst>
        </p14:section>
        <p14:section name="Model" id="{294b9fe3-cb60-d932-67a2-5daf68d823eb}">
          <p14:sldIdLst>
            <p14:sldId id="263"/>
            <p14:sldId id="264"/>
          </p14:sldIdLst>
        </p14:section>
        <p14:section name="Results" id="{e4336308-27d2-e145-63fc-43a44577ddfa}">
          <p14:sldIdLst>
            <p14:sldId id="265"/>
            <p14:sldId id="266"/>
            <p14:sldId id="267"/>
          </p14:sldIdLst>
        </p14:section>
        <p14:section name="Conclusions" id="{56f62a8a-7bb2-290b-1cc3-d04fd8eb61b6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Floc Size in South San Francisco Bay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waves and currents alone tell us how big suspended mud particles are?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physics-only replication of Egan et al. (2022) and Egan's CS229 study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Mini Project, Team 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The question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the size of suspended mud flocs from wave and current measurements alone?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E6B72"/>
                </a:solidFill>
              </a:rPr>
              <a:t>Why physics only: biology sensors are costly, need frequent cleaning, and are not in the public dataset.</a:t>
            </a:r>
            <a:endParaRPr lang="en-US" sz="1300" dirty="0"/>
          </a:p>
        </p:txBody>
      </p:sp>
      <p:sp>
        <p:nvSpPr>
          <p:cNvPr id="6" name="Problem badge 1"/>
          <p:cNvSpPr/>
          <p:nvPr/>
        </p:nvSpPr>
        <p:spPr>
          <a:xfrm>
            <a:off x="4572000" y="1234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roblem badge 1 label"/>
          <p:cNvSpPr txBox="1"/>
          <p:nvPr/>
        </p:nvSpPr>
        <p:spPr>
          <a:xfrm>
            <a:off x="45720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21615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Input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Hourly measurements of waves, tidal current, turbulence, temperature and salinity.</a:t>
            </a:r>
            <a:endParaRPr lang="en-US" sz="1400" dirty="0"/>
          </a:p>
        </p:txBody>
      </p:sp>
      <p:sp>
        <p:nvSpPr>
          <p:cNvPr id="9" name="Problem badge 2"/>
          <p:cNvSpPr/>
          <p:nvPr/>
        </p:nvSpPr>
        <p:spPr>
          <a:xfrm>
            <a:off x="45720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roblem badge 2 label"/>
          <p:cNvSpPr txBox="1"/>
          <p:nvPr/>
        </p:nvSpPr>
        <p:spPr>
          <a:xfrm>
            <a:off x="45720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31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Mean floc diameter d (micrometres), measured by a laser particle sizer (LISST).</a:t>
            </a:r>
            <a:endParaRPr lang="en-US" sz="1400" dirty="0"/>
          </a:p>
        </p:txBody>
      </p:sp>
      <p:sp>
        <p:nvSpPr>
          <p:cNvPr id="12" name="Problem badge 3"/>
          <p:cNvSpPr/>
          <p:nvPr/>
        </p:nvSpPr>
        <p:spPr>
          <a:xfrm>
            <a:off x="4572000" y="34655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Problem badge 3 label"/>
          <p:cNvSpPr txBox="1"/>
          <p:nvPr/>
        </p:nvSpPr>
        <p:spPr>
          <a:xfrm>
            <a:off x="45720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44728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Test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Does the model still work on days, and seasons, it has never seen?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floc size matters</a:t>
            </a:r>
            <a:endParaRPr lang="en-US" sz="3000" dirty="0"/>
          </a:p>
        </p:txBody>
      </p:sp>
      <p:sp>
        <p:nvSpPr>
          <p:cNvPr id="3" name="Motivation card 1"/>
          <p:cNvSpPr/>
          <p:nvPr/>
        </p:nvSpPr>
        <p:spPr>
          <a:xfrm>
            <a:off x="457200" y="1188720"/>
            <a:ext cx="261518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4" name="Motivation badge 1"/>
          <p:cNvSpPr/>
          <p:nvPr/>
        </p:nvSpPr>
        <p:spPr>
          <a:xfrm>
            <a:off x="685800" y="13898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Motivation badge 1 label"/>
          <p:cNvSpPr txBox="1"/>
          <p:nvPr/>
        </p:nvSpPr>
        <p:spPr>
          <a:xfrm>
            <a:off x="68580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01952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Settling speed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Bigger flocs sink faster. Speed grows with diameter squared, so a 2x error in size is a 4x error in settling speed.</a:t>
            </a:r>
            <a:endParaRPr lang="en-US" sz="1400" dirty="0"/>
          </a:p>
        </p:txBody>
      </p:sp>
      <p:sp>
        <p:nvSpPr>
          <p:cNvPr id="7" name="Motivation card 2"/>
          <p:cNvSpPr/>
          <p:nvPr/>
        </p:nvSpPr>
        <p:spPr>
          <a:xfrm>
            <a:off x="3264408" y="1188720"/>
            <a:ext cx="261518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8" name="Motivation badge 2"/>
          <p:cNvSpPr/>
          <p:nvPr/>
        </p:nvSpPr>
        <p:spPr>
          <a:xfrm>
            <a:off x="3493008" y="13898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Motivation badge 2 label"/>
          <p:cNvSpPr txBox="1"/>
          <p:nvPr/>
        </p:nvSpPr>
        <p:spPr>
          <a:xfrm>
            <a:off x="349300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1901952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Coasts and ports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Sediment models guide dredging, marsh restoration and sea-level defences. They need a settling speed that is rarely measured.</a:t>
            </a:r>
            <a:endParaRPr lang="en-US" sz="1400" dirty="0"/>
          </a:p>
        </p:txBody>
      </p:sp>
      <p:sp>
        <p:nvSpPr>
          <p:cNvPr id="11" name="Motivation card 3"/>
          <p:cNvSpPr/>
          <p:nvPr/>
        </p:nvSpPr>
        <p:spPr>
          <a:xfrm>
            <a:off x="6071616" y="1188720"/>
            <a:ext cx="2615184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12" name="Motivation badge 3"/>
          <p:cNvSpPr/>
          <p:nvPr/>
        </p:nvSpPr>
        <p:spPr>
          <a:xfrm>
            <a:off x="6300216" y="13898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Motivation badge 3 label"/>
          <p:cNvSpPr txBox="1"/>
          <p:nvPr/>
        </p:nvSpPr>
        <p:spPr>
          <a:xfrm>
            <a:off x="6300216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1901952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Pollutants and ecology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Contaminants and algae travel on flocs, so floc size decides where they end up.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The problem: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most models assume one fixed floc size, yet our data shows it changes by about 3x within a single season.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flocs grow and break</a:t>
            </a:r>
            <a:endParaRPr lang="en-US" sz="3000" dirty="0"/>
          </a:p>
        </p:txBody>
      </p:sp>
      <p:sp>
        <p:nvSpPr>
          <p:cNvPr id="3" name="Theory card 1"/>
          <p:cNvSpPr/>
          <p:nvPr/>
        </p:nvSpPr>
        <p:spPr>
          <a:xfrm>
            <a:off x="457200" y="1188720"/>
            <a:ext cx="4572000" cy="98755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4" name="Theory dot 1"/>
          <p:cNvSpPr/>
          <p:nvPr/>
        </p:nvSpPr>
        <p:spPr>
          <a:xfrm>
            <a:off x="658368" y="1463040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98448" y="12984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Grow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Particles collide and stick, helped by sticky biological 'glue' from algae. Calm water lets flocs grow.</a:t>
            </a:r>
            <a:endParaRPr lang="en-US" sz="1400" dirty="0"/>
          </a:p>
        </p:txBody>
      </p:sp>
      <p:sp>
        <p:nvSpPr>
          <p:cNvPr id="6" name="Theory card 2"/>
          <p:cNvSpPr/>
          <p:nvPr/>
        </p:nvSpPr>
        <p:spPr>
          <a:xfrm>
            <a:off x="457200" y="2304288"/>
            <a:ext cx="4572000" cy="98755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7" name="Theory dot 2"/>
          <p:cNvSpPr/>
          <p:nvPr/>
        </p:nvSpPr>
        <p:spPr>
          <a:xfrm>
            <a:off x="658368" y="2578608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241401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Break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Wave motion near the bed shears flocs apart. Stronger waves mean smaller flocs.</a:t>
            </a:r>
            <a:endParaRPr lang="en-US" sz="1400" dirty="0"/>
          </a:p>
        </p:txBody>
      </p:sp>
      <p:sp>
        <p:nvSpPr>
          <p:cNvPr id="9" name="Theory card 3"/>
          <p:cNvSpPr/>
          <p:nvPr/>
        </p:nvSpPr>
        <p:spPr>
          <a:xfrm>
            <a:off x="457200" y="3419856"/>
            <a:ext cx="4572000" cy="98755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10" name="Theory dot 3"/>
          <p:cNvSpPr/>
          <p:nvPr/>
        </p:nvSpPr>
        <p:spPr>
          <a:xfrm>
            <a:off x="658368" y="369417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98448" y="35295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Arrive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tide carries flocs formed elsewhere. Here, water from upstream arrives about 4 hours later.</a:t>
            </a:r>
            <a:endParaRPr lang="en-US" sz="1400" dirty="0"/>
          </a:p>
        </p:txBody>
      </p:sp>
      <p:sp>
        <p:nvSpPr>
          <p:cNvPr id="12" name="Stokes card"/>
          <p:cNvSpPr/>
          <p:nvPr/>
        </p:nvSpPr>
        <p:spPr>
          <a:xfrm>
            <a:off x="5303520" y="1188720"/>
            <a:ext cx="3383280" cy="3236976"/>
          </a:xfrm>
          <a:prstGeom prst="roundRect">
            <a:avLst>
              <a:gd name="adj" fmla="val 226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Settling speed (Stokes law)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pPr indent="0" marL="0">
              <a:spcAft>
                <a:spcPts val="400"/>
              </a:spcAft>
              <a:buNone/>
            </a:pPr>
            <a:r>
              <a:rPr lang="en-US" sz="22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(ρ</a:t>
            </a:r>
            <a:pPr indent="0" marL="0">
              <a:spcAft>
                <a:spcPts val="400"/>
              </a:spcAft>
              <a:buNone/>
            </a:pPr>
            <a:r>
              <a:rPr lang="en-US" sz="22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ρ</a:t>
            </a:r>
            <a:pPr indent="0" marL="0">
              <a:spcAft>
                <a:spcPts val="400"/>
              </a:spcAft>
              <a:buNone/>
            </a:pPr>
            <a:r>
              <a:rPr lang="en-US" sz="2200" baseline="-4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g d</a:t>
            </a:r>
            <a:pPr indent="0" marL="0">
              <a:spcAft>
                <a:spcPts val="400"/>
              </a:spcAft>
              <a:buNone/>
            </a:pPr>
            <a:r>
              <a:rPr lang="en-US" sz="2200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18μ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5146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d: floc diameter (what we predict)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ρf, ρ0: floc and water density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g: gravity,  μ: water viscosity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Double d at the same density and it sinks 4x faster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E6B72"/>
                </a:solidFill>
              </a:rPr>
              <a:t>What theory predicts: strong waves give smaller flocs; strong tide 4 hours earlier brings larger ones.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Stanford Digital Repository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NSF OCE-1736668 field campaign on the shallow shoals (about 2 m deep) of South San Francisco Bay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 deployments of about four weeks: Summer 2018, Winter 2019, Spring 2019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2.5 GB public archive; we used the laser sizer, the CTD and the 15 cm current meter at platform P2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 cleaning: 1,120 hourly samples (Summer 427, Winter 406, Spring 287)</a:t>
            </a:r>
            <a:endParaRPr lang="en-US" sz="1400" dirty="0"/>
          </a:p>
        </p:txBody>
      </p:sp>
      <p:graphicFrame>
        <p:nvGraphicFramePr>
          <p:cNvPr id="6" name="Instru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234440"/>
          <a:ext cx="43891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Instrument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measures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How often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LISST laser sizer, 35 cm above bed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Particle size distribution: our target 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Every 60 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ADV acoustic current meter, 15 cm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3D velocity and pressure: waves, tide, turbulence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 per second, 14 min each hour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CTD sensor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Temperature and salinity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Every 60 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297680" y="3977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E6B72"/>
                </a:solidFill>
              </a:rPr>
              <a:t>Not in the archive: chlorophyll and light-absorption (biology) sensors used by both papers.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signals to a feature table</a:t>
            </a:r>
            <a:endParaRPr lang="en-US" sz="3000" dirty="0"/>
          </a:p>
        </p:txBody>
      </p:sp>
      <p:sp>
        <p:nvSpPr>
          <p:cNvPr id="3" name="Target card"/>
          <p:cNvSpPr/>
          <p:nvPr/>
        </p:nvSpPr>
        <p:spPr>
          <a:xfrm>
            <a:off x="45720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Target: floc size 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Average the 1-minute laser readings over each 14-minute burst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Drop readings where the optics are saturated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Remove isolated spikes at the size extremes (paper's 40% rule)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Take the volume-weighted mean diameter</a:t>
            </a:r>
            <a:endParaRPr lang="en-US" sz="1400" dirty="0"/>
          </a:p>
        </p:txBody>
      </p:sp>
      <p:graphicFrame>
        <p:nvGraphicFramePr>
          <p:cNvPr id="7" name="Fe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19456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Plain meaning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Expected effect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u_b  wave velocity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How hard waves shake the water at the bed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Smaller flocs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ū  tidal current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Flood (+) or ebb (-) tide now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Weak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ū₄  current 4 h ago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Water arriving from upstream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Larger flocs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ε  turbulence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Small-scale stirring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Breakup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  temperature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Season; proxy for biology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Spring growth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  salinity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Season; river inflow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Weak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74904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E6B72"/>
                </a:solidFill>
              </a:rPr>
              <a:t>Quality control: bursts with more than 10% bad current samples are dropped. Gaps are never filled.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and code structure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325880"/>
            <a:ext cx="120700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4" name="Step badge 1"/>
          <p:cNvSpPr/>
          <p:nvPr/>
        </p:nvSpPr>
        <p:spPr>
          <a:xfrm>
            <a:off x="86868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badge 1 label"/>
          <p:cNvSpPr txBox="1"/>
          <p:nvPr/>
        </p:nvSpPr>
        <p:spPr>
          <a:xfrm>
            <a:off x="8686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64592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Raw files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E6B72"/>
                </a:solidFill>
              </a:rPr>
              <a:t>Data/ (.mat)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691640" y="1801368"/>
            <a:ext cx="14264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1861718" y="1325880"/>
            <a:ext cx="120700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9" name="Step badge 2"/>
          <p:cNvSpPr/>
          <p:nvPr/>
        </p:nvSpPr>
        <p:spPr>
          <a:xfrm>
            <a:off x="2273198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badge 2 label"/>
          <p:cNvSpPr txBox="1"/>
          <p:nvPr/>
        </p:nvSpPr>
        <p:spPr>
          <a:xfrm>
            <a:off x="227319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34870" y="164592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Load + QC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E6B72"/>
                </a:solidFill>
              </a:rPr>
              <a:t>src/load.py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3096158" y="1801368"/>
            <a:ext cx="14264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3"/>
          <p:cNvSpPr/>
          <p:nvPr/>
        </p:nvSpPr>
        <p:spPr>
          <a:xfrm>
            <a:off x="3266237" y="1325880"/>
            <a:ext cx="120700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14" name="Step badge 3"/>
          <p:cNvSpPr/>
          <p:nvPr/>
        </p:nvSpPr>
        <p:spPr>
          <a:xfrm>
            <a:off x="3677717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badge 3 label"/>
          <p:cNvSpPr txBox="1"/>
          <p:nvPr/>
        </p:nvSpPr>
        <p:spPr>
          <a:xfrm>
            <a:off x="3677717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39389" y="164592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Features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E6B72"/>
                </a:solidFill>
              </a:rPr>
              <a:t>build_features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4500677" y="1801368"/>
            <a:ext cx="14264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tep 4"/>
          <p:cNvSpPr/>
          <p:nvPr/>
        </p:nvSpPr>
        <p:spPr>
          <a:xfrm>
            <a:off x="4670755" y="1325880"/>
            <a:ext cx="120700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19" name="Step badge 4"/>
          <p:cNvSpPr/>
          <p:nvPr/>
        </p:nvSpPr>
        <p:spPr>
          <a:xfrm>
            <a:off x="5082235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badge 4 label"/>
          <p:cNvSpPr txBox="1"/>
          <p:nvPr/>
        </p:nvSpPr>
        <p:spPr>
          <a:xfrm>
            <a:off x="5082235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43907" y="164592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Feature table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E6B72"/>
                </a:solidFill>
              </a:rPr>
              <a:t>outputs/cache</a:t>
            </a:r>
            <a:endParaRPr lang="en-US" sz="1400" dirty="0"/>
          </a:p>
        </p:txBody>
      </p:sp>
      <p:sp>
        <p:nvSpPr>
          <p:cNvPr id="22" name="Arrow 4"/>
          <p:cNvSpPr/>
          <p:nvPr/>
        </p:nvSpPr>
        <p:spPr>
          <a:xfrm>
            <a:off x="5905195" y="1801368"/>
            <a:ext cx="14264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ep 5"/>
          <p:cNvSpPr/>
          <p:nvPr/>
        </p:nvSpPr>
        <p:spPr>
          <a:xfrm>
            <a:off x="6075274" y="1325880"/>
            <a:ext cx="120700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24" name="Step badge 5"/>
          <p:cNvSpPr/>
          <p:nvPr/>
        </p:nvSpPr>
        <p:spPr>
          <a:xfrm>
            <a:off x="6486754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badge 5 label"/>
          <p:cNvSpPr txBox="1"/>
          <p:nvPr/>
        </p:nvSpPr>
        <p:spPr>
          <a:xfrm>
            <a:off x="6486754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48426" y="164592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Models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E6B72"/>
                </a:solidFill>
              </a:rPr>
              <a:t>run_random_forest</a:t>
            </a:r>
            <a:endParaRPr lang="en-US" sz="1400" dirty="0"/>
          </a:p>
        </p:txBody>
      </p:sp>
      <p:sp>
        <p:nvSpPr>
          <p:cNvPr id="27" name="Arrow 5"/>
          <p:cNvSpPr/>
          <p:nvPr/>
        </p:nvSpPr>
        <p:spPr>
          <a:xfrm>
            <a:off x="7309714" y="1801368"/>
            <a:ext cx="142646" cy="18288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tep 6"/>
          <p:cNvSpPr/>
          <p:nvPr/>
        </p:nvSpPr>
        <p:spPr>
          <a:xfrm>
            <a:off x="7479792" y="1325880"/>
            <a:ext cx="1207008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29" name="Step badge 6"/>
          <p:cNvSpPr/>
          <p:nvPr/>
        </p:nvSpPr>
        <p:spPr>
          <a:xfrm>
            <a:off x="7891272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tep badge 6 label"/>
          <p:cNvSpPr txBox="1"/>
          <p:nvPr/>
        </p:nvSpPr>
        <p:spPr>
          <a:xfrm>
            <a:off x="789127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52944" y="1645920"/>
            <a:ext cx="1060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Report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E6B72"/>
                </a:solidFill>
              </a:rPr>
              <a:t>outputs/</a:t>
            </a:r>
            <a:endParaRPr lang="en-US" sz="1400" dirty="0"/>
          </a:p>
        </p:txBody>
      </p:sp>
      <p:sp>
        <p:nvSpPr>
          <p:cNvPr id="32" name="Repo card"/>
          <p:cNvSpPr/>
          <p:nvPr/>
        </p:nvSpPr>
        <p:spPr>
          <a:xfrm>
            <a:off x="457200" y="2743200"/>
            <a:ext cx="39776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Code layout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20040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src/  load, features, models, predict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scripts/  all models, figures, diagnostics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outputs/  cached table, tables, figures, report</a:t>
            </a:r>
            <a:endParaRPr lang="en-US" sz="1400" dirty="0"/>
          </a:p>
        </p:txBody>
      </p:sp>
      <p:sp>
        <p:nvSpPr>
          <p:cNvPr id="35" name="Demo card"/>
          <p:cNvSpPr/>
          <p:nvPr/>
        </p:nvSpPr>
        <p:spPr>
          <a:xfrm>
            <a:off x="4709160" y="2743200"/>
            <a:ext cx="397764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10328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Live demo (two commands)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910328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ven/bin/python build_features.py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ven/bin/python run_random_forest.py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910328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E6B72"/>
                </a:solidFill>
              </a:rPr>
              <a:t>Prints our scores next to both papers and saves a CSV.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model choice: Random Forest</a:t>
            </a:r>
            <a:endParaRPr lang="en-US" sz="3000" dirty="0"/>
          </a:p>
        </p:txBody>
      </p:sp>
      <p:sp>
        <p:nvSpPr>
          <p:cNvPr id="3" name="Why RF card"/>
          <p:cNvSpPr/>
          <p:nvPr/>
        </p:nvSpPr>
        <p:spPr>
          <a:xfrm>
            <a:off x="457200" y="114300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a Random Forest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2763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model as Egan's CS229 report, so scores compare directly (32 trees, default settings)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Captures thresholds: waves only break flocs above a certain strength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for small tables: no scaling, robust to noisy sensors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Explains itself: feature importance shows which physics matters</a:t>
            </a:r>
            <a:endParaRPr lang="en-US" sz="1400" dirty="0"/>
          </a:p>
        </p:txBody>
      </p:sp>
      <p:sp>
        <p:nvSpPr>
          <p:cNvPr id="6" name="Data fit card"/>
          <p:cNvSpPr/>
          <p:nvPr/>
        </p:nvSpPr>
        <p:spPr>
          <a:xfrm>
            <a:off x="4709160" y="114300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How our data suits 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62763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Tabular: 1,120 rows x 6 features, one row per hour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Mixed units (m/s, °C, PSU, W/kg) are fine for trees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Features interact (tide x waves); trees learn this without hand-made terms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Averaging many trees smooths the noise in field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Limitations: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forest cannot predict beyond the range it was trained on, and neighbouring hours are near-copies, so a random split overstates accuracy.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Also run for comparison: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LASSO (journal paper) and SVR (class paper's second model).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test: three ways to hold data 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Random 70/30</a:t>
            </a:r>
            <a:endParaRPr lang="en-US" sz="1400" dirty="0"/>
          </a:p>
        </p:txBody>
      </p:sp>
      <p:sp>
        <p:nvSpPr>
          <p:cNvPr id="4" name="Timeline 1-1"/>
          <p:cNvSpPr/>
          <p:nvPr/>
        </p:nvSpPr>
        <p:spPr>
          <a:xfrm>
            <a:off x="457200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" name="Timeline 1-2"/>
          <p:cNvSpPr/>
          <p:nvPr/>
        </p:nvSpPr>
        <p:spPr>
          <a:xfrm>
            <a:off x="608076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" name="Timeline 1-3"/>
          <p:cNvSpPr/>
          <p:nvPr/>
        </p:nvSpPr>
        <p:spPr>
          <a:xfrm>
            <a:off x="758952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" name="Timeline 1-4"/>
          <p:cNvSpPr/>
          <p:nvPr/>
        </p:nvSpPr>
        <p:spPr>
          <a:xfrm>
            <a:off x="909828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8" name="Timeline 1-5"/>
          <p:cNvSpPr/>
          <p:nvPr/>
        </p:nvSpPr>
        <p:spPr>
          <a:xfrm>
            <a:off x="1060704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9" name="Timeline 1-6"/>
          <p:cNvSpPr/>
          <p:nvPr/>
        </p:nvSpPr>
        <p:spPr>
          <a:xfrm>
            <a:off x="1211580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10" name="Timeline 1-7"/>
          <p:cNvSpPr/>
          <p:nvPr/>
        </p:nvSpPr>
        <p:spPr>
          <a:xfrm>
            <a:off x="1362456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1" name="Timeline 1-8"/>
          <p:cNvSpPr/>
          <p:nvPr/>
        </p:nvSpPr>
        <p:spPr>
          <a:xfrm>
            <a:off x="1513332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2" name="Timeline 1-9"/>
          <p:cNvSpPr/>
          <p:nvPr/>
        </p:nvSpPr>
        <p:spPr>
          <a:xfrm>
            <a:off x="1664208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3" name="Timeline 1-10"/>
          <p:cNvSpPr/>
          <p:nvPr/>
        </p:nvSpPr>
        <p:spPr>
          <a:xfrm>
            <a:off x="1815084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14" name="Timeline 1-11"/>
          <p:cNvSpPr/>
          <p:nvPr/>
        </p:nvSpPr>
        <p:spPr>
          <a:xfrm>
            <a:off x="1965960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5" name="Timeline 1-12"/>
          <p:cNvSpPr/>
          <p:nvPr/>
        </p:nvSpPr>
        <p:spPr>
          <a:xfrm>
            <a:off x="2116836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6" name="Timeline 1-13"/>
          <p:cNvSpPr/>
          <p:nvPr/>
        </p:nvSpPr>
        <p:spPr>
          <a:xfrm>
            <a:off x="2267712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17" name="Timeline 1-14"/>
          <p:cNvSpPr/>
          <p:nvPr/>
        </p:nvSpPr>
        <p:spPr>
          <a:xfrm>
            <a:off x="2418588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8" name="Timeline 1-15"/>
          <p:cNvSpPr/>
          <p:nvPr/>
        </p:nvSpPr>
        <p:spPr>
          <a:xfrm>
            <a:off x="2569464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9" name="Timeline 1-16"/>
          <p:cNvSpPr/>
          <p:nvPr/>
        </p:nvSpPr>
        <p:spPr>
          <a:xfrm>
            <a:off x="2720340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0" name="Timeline 1-17"/>
          <p:cNvSpPr/>
          <p:nvPr/>
        </p:nvSpPr>
        <p:spPr>
          <a:xfrm>
            <a:off x="2871216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21" name="Timeline 1-18"/>
          <p:cNvSpPr/>
          <p:nvPr/>
        </p:nvSpPr>
        <p:spPr>
          <a:xfrm>
            <a:off x="3022092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2" name="Timeline 1-19"/>
          <p:cNvSpPr/>
          <p:nvPr/>
        </p:nvSpPr>
        <p:spPr>
          <a:xfrm>
            <a:off x="3172968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3" name="Timeline 1-20"/>
          <p:cNvSpPr/>
          <p:nvPr/>
        </p:nvSpPr>
        <p:spPr>
          <a:xfrm>
            <a:off x="3323844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24" name="Timeline 1-21"/>
          <p:cNvSpPr/>
          <p:nvPr/>
        </p:nvSpPr>
        <p:spPr>
          <a:xfrm>
            <a:off x="3474720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5" name="Timeline 1-22"/>
          <p:cNvSpPr/>
          <p:nvPr/>
        </p:nvSpPr>
        <p:spPr>
          <a:xfrm>
            <a:off x="3625596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6" name="Timeline 1-23"/>
          <p:cNvSpPr/>
          <p:nvPr/>
        </p:nvSpPr>
        <p:spPr>
          <a:xfrm>
            <a:off x="3776472" y="161848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27" name="Timeline 1-24"/>
          <p:cNvSpPr/>
          <p:nvPr/>
        </p:nvSpPr>
        <p:spPr>
          <a:xfrm>
            <a:off x="3927348" y="161848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14904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Test hours sit next to training hours, so it is optimistic (class paper)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Time-blocked</a:t>
            </a:r>
            <a:endParaRPr lang="en-US" sz="1400" dirty="0"/>
          </a:p>
        </p:txBody>
      </p:sp>
      <p:sp>
        <p:nvSpPr>
          <p:cNvPr id="30" name="Timeline 2-1"/>
          <p:cNvSpPr/>
          <p:nvPr/>
        </p:nvSpPr>
        <p:spPr>
          <a:xfrm>
            <a:off x="457200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1" name="Timeline 2-2"/>
          <p:cNvSpPr/>
          <p:nvPr/>
        </p:nvSpPr>
        <p:spPr>
          <a:xfrm>
            <a:off x="608076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2" name="Timeline 2-3"/>
          <p:cNvSpPr/>
          <p:nvPr/>
        </p:nvSpPr>
        <p:spPr>
          <a:xfrm>
            <a:off x="758952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3" name="Timeline 2-4"/>
          <p:cNvSpPr/>
          <p:nvPr/>
        </p:nvSpPr>
        <p:spPr>
          <a:xfrm>
            <a:off x="909828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4" name="Timeline 2-5"/>
          <p:cNvSpPr/>
          <p:nvPr/>
        </p:nvSpPr>
        <p:spPr>
          <a:xfrm>
            <a:off x="1060704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5" name="Timeline 2-6"/>
          <p:cNvSpPr/>
          <p:nvPr/>
        </p:nvSpPr>
        <p:spPr>
          <a:xfrm>
            <a:off x="1211580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6" name="Timeline 2-7"/>
          <p:cNvSpPr/>
          <p:nvPr/>
        </p:nvSpPr>
        <p:spPr>
          <a:xfrm>
            <a:off x="1362456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7" name="Timeline 2-8"/>
          <p:cNvSpPr/>
          <p:nvPr/>
        </p:nvSpPr>
        <p:spPr>
          <a:xfrm>
            <a:off x="1513332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8" name="Timeline 2-9"/>
          <p:cNvSpPr/>
          <p:nvPr/>
        </p:nvSpPr>
        <p:spPr>
          <a:xfrm>
            <a:off x="1664208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39" name="Timeline 2-10"/>
          <p:cNvSpPr/>
          <p:nvPr/>
        </p:nvSpPr>
        <p:spPr>
          <a:xfrm>
            <a:off x="1815084" y="2578608"/>
            <a:ext cx="118872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40" name="Timeline 2-11"/>
          <p:cNvSpPr/>
          <p:nvPr/>
        </p:nvSpPr>
        <p:spPr>
          <a:xfrm>
            <a:off x="1965960" y="257860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41" name="Timeline 2-12"/>
          <p:cNvSpPr/>
          <p:nvPr/>
        </p:nvSpPr>
        <p:spPr>
          <a:xfrm>
            <a:off x="2116836" y="257860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42" name="Timeline 2-13"/>
          <p:cNvSpPr/>
          <p:nvPr/>
        </p:nvSpPr>
        <p:spPr>
          <a:xfrm>
            <a:off x="2267712" y="257860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43" name="Timeline 2-14"/>
          <p:cNvSpPr/>
          <p:nvPr/>
        </p:nvSpPr>
        <p:spPr>
          <a:xfrm>
            <a:off x="2418588" y="257860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44" name="Timeline 2-15"/>
          <p:cNvSpPr/>
          <p:nvPr/>
        </p:nvSpPr>
        <p:spPr>
          <a:xfrm>
            <a:off x="2569464" y="257860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45" name="Timeline 2-16"/>
          <p:cNvSpPr/>
          <p:nvPr/>
        </p:nvSpPr>
        <p:spPr>
          <a:xfrm>
            <a:off x="2720340" y="257860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46" name="Timeline 2-17"/>
          <p:cNvSpPr/>
          <p:nvPr/>
        </p:nvSpPr>
        <p:spPr>
          <a:xfrm>
            <a:off x="2871216" y="2578608"/>
            <a:ext cx="118872" cy="237744"/>
          </a:xfrm>
          <a:prstGeom prst="rect">
            <a:avLst/>
          </a:prstGeom>
          <a:solidFill>
            <a:schemeClr val="bg1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47" name="Timeline 2-18"/>
          <p:cNvSpPr/>
          <p:nvPr/>
        </p:nvSpPr>
        <p:spPr>
          <a:xfrm>
            <a:off x="3022092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48" name="Timeline 2-19"/>
          <p:cNvSpPr/>
          <p:nvPr/>
        </p:nvSpPr>
        <p:spPr>
          <a:xfrm>
            <a:off x="3172968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49" name="Timeline 2-20"/>
          <p:cNvSpPr/>
          <p:nvPr/>
        </p:nvSpPr>
        <p:spPr>
          <a:xfrm>
            <a:off x="3323844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0" name="Timeline 2-21"/>
          <p:cNvSpPr/>
          <p:nvPr/>
        </p:nvSpPr>
        <p:spPr>
          <a:xfrm>
            <a:off x="3474720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1" name="Timeline 2-22"/>
          <p:cNvSpPr/>
          <p:nvPr/>
        </p:nvSpPr>
        <p:spPr>
          <a:xfrm>
            <a:off x="3625596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2" name="Timeline 2-23"/>
          <p:cNvSpPr/>
          <p:nvPr/>
        </p:nvSpPr>
        <p:spPr>
          <a:xfrm>
            <a:off x="3776472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3" name="Timeline 2-24"/>
          <p:cNvSpPr/>
          <p:nvPr/>
        </p:nvSpPr>
        <p:spPr>
          <a:xfrm>
            <a:off x="3927348" y="257860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43400" y="24505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Whole multi-day stretches held out with a 12 h gap. Closest to real forecasting (ours)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Leave one season out</a:t>
            </a:r>
            <a:endParaRPr lang="en-US" sz="1400" dirty="0"/>
          </a:p>
        </p:txBody>
      </p:sp>
      <p:sp>
        <p:nvSpPr>
          <p:cNvPr id="56" name="Timeline 3-1"/>
          <p:cNvSpPr/>
          <p:nvPr/>
        </p:nvSpPr>
        <p:spPr>
          <a:xfrm>
            <a:off x="457200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7" name="Timeline 3-2"/>
          <p:cNvSpPr/>
          <p:nvPr/>
        </p:nvSpPr>
        <p:spPr>
          <a:xfrm>
            <a:off x="608076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8" name="Timeline 3-3"/>
          <p:cNvSpPr/>
          <p:nvPr/>
        </p:nvSpPr>
        <p:spPr>
          <a:xfrm>
            <a:off x="758952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59" name="Timeline 3-4"/>
          <p:cNvSpPr/>
          <p:nvPr/>
        </p:nvSpPr>
        <p:spPr>
          <a:xfrm>
            <a:off x="909828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0" name="Timeline 3-5"/>
          <p:cNvSpPr/>
          <p:nvPr/>
        </p:nvSpPr>
        <p:spPr>
          <a:xfrm>
            <a:off x="1060704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1" name="Timeline 3-6"/>
          <p:cNvSpPr/>
          <p:nvPr/>
        </p:nvSpPr>
        <p:spPr>
          <a:xfrm>
            <a:off x="1211580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2" name="Timeline 3-7"/>
          <p:cNvSpPr/>
          <p:nvPr/>
        </p:nvSpPr>
        <p:spPr>
          <a:xfrm>
            <a:off x="1362456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3" name="Timeline 3-8"/>
          <p:cNvSpPr/>
          <p:nvPr/>
        </p:nvSpPr>
        <p:spPr>
          <a:xfrm>
            <a:off x="1513332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4" name="Timeline 3-9"/>
          <p:cNvSpPr/>
          <p:nvPr/>
        </p:nvSpPr>
        <p:spPr>
          <a:xfrm>
            <a:off x="1755648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5" name="Timeline 3-10"/>
          <p:cNvSpPr/>
          <p:nvPr/>
        </p:nvSpPr>
        <p:spPr>
          <a:xfrm>
            <a:off x="1906524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6" name="Timeline 3-11"/>
          <p:cNvSpPr/>
          <p:nvPr/>
        </p:nvSpPr>
        <p:spPr>
          <a:xfrm>
            <a:off x="2057400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7" name="Timeline 3-12"/>
          <p:cNvSpPr/>
          <p:nvPr/>
        </p:nvSpPr>
        <p:spPr>
          <a:xfrm>
            <a:off x="2208276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8" name="Timeline 3-13"/>
          <p:cNvSpPr/>
          <p:nvPr/>
        </p:nvSpPr>
        <p:spPr>
          <a:xfrm>
            <a:off x="2359152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69" name="Timeline 3-14"/>
          <p:cNvSpPr/>
          <p:nvPr/>
        </p:nvSpPr>
        <p:spPr>
          <a:xfrm>
            <a:off x="2510028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70" name="Timeline 3-15"/>
          <p:cNvSpPr/>
          <p:nvPr/>
        </p:nvSpPr>
        <p:spPr>
          <a:xfrm>
            <a:off x="2660904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71" name="Timeline 3-16"/>
          <p:cNvSpPr/>
          <p:nvPr/>
        </p:nvSpPr>
        <p:spPr>
          <a:xfrm>
            <a:off x="2811780" y="3538728"/>
            <a:ext cx="118872" cy="237744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72" name="Timeline 3-17"/>
          <p:cNvSpPr/>
          <p:nvPr/>
        </p:nvSpPr>
        <p:spPr>
          <a:xfrm>
            <a:off x="3054096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3" name="Timeline 3-18"/>
          <p:cNvSpPr/>
          <p:nvPr/>
        </p:nvSpPr>
        <p:spPr>
          <a:xfrm>
            <a:off x="3204972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4" name="Timeline 3-19"/>
          <p:cNvSpPr/>
          <p:nvPr/>
        </p:nvSpPr>
        <p:spPr>
          <a:xfrm>
            <a:off x="3355848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5" name="Timeline 3-20"/>
          <p:cNvSpPr/>
          <p:nvPr/>
        </p:nvSpPr>
        <p:spPr>
          <a:xfrm>
            <a:off x="3506724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6" name="Timeline 3-21"/>
          <p:cNvSpPr/>
          <p:nvPr/>
        </p:nvSpPr>
        <p:spPr>
          <a:xfrm>
            <a:off x="3657600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7" name="Timeline 3-22"/>
          <p:cNvSpPr/>
          <p:nvPr/>
        </p:nvSpPr>
        <p:spPr>
          <a:xfrm>
            <a:off x="3808476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8" name="Timeline 3-23"/>
          <p:cNvSpPr/>
          <p:nvPr/>
        </p:nvSpPr>
        <p:spPr>
          <a:xfrm>
            <a:off x="3959352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79" name="Timeline 3-24"/>
          <p:cNvSpPr/>
          <p:nvPr/>
        </p:nvSpPr>
        <p:spPr>
          <a:xfrm>
            <a:off x="4110228" y="3538728"/>
            <a:ext cx="118872" cy="237744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343400" y="34107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Train on two seasons, predict the third. New-conditions test (ours)</a:t>
            </a:r>
            <a:endParaRPr lang="en-US" sz="1300" dirty="0"/>
          </a:p>
        </p:txBody>
      </p:sp>
      <p:sp>
        <p:nvSpPr>
          <p:cNvPr id="81" name="Legend Training hour"/>
          <p:cNvSpPr/>
          <p:nvPr/>
        </p:nvSpPr>
        <p:spPr>
          <a:xfrm>
            <a:off x="457200" y="4251960"/>
            <a:ext cx="164592" cy="164592"/>
          </a:xfrm>
          <a:prstGeom prst="rect">
            <a:avLst/>
          </a:prstGeom>
          <a:solidFill>
            <a:schemeClr val="accent1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04088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Training hour</a:t>
            </a:r>
            <a:endParaRPr lang="en-US" sz="1200" dirty="0"/>
          </a:p>
        </p:txBody>
      </p:sp>
      <p:sp>
        <p:nvSpPr>
          <p:cNvPr id="83" name="Legend Test hour"/>
          <p:cNvSpPr/>
          <p:nvPr/>
        </p:nvSpPr>
        <p:spPr>
          <a:xfrm>
            <a:off x="2057400" y="4251960"/>
            <a:ext cx="164592" cy="164592"/>
          </a:xfrm>
          <a:prstGeom prst="rect">
            <a:avLst/>
          </a:prstGeom>
          <a:solidFill>
            <a:schemeClr val="accent2"/>
          </a:solidFill>
          <a:ln w="9525">
            <a:solidFill>
              <a:srgbClr val="B8732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304288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Test hour</a:t>
            </a:r>
            <a:endParaRPr lang="en-US" sz="1200" dirty="0"/>
          </a:p>
        </p:txBody>
      </p:sp>
      <p:sp>
        <p:nvSpPr>
          <p:cNvPr id="85" name="Legend Gap (unused)"/>
          <p:cNvSpPr/>
          <p:nvPr/>
        </p:nvSpPr>
        <p:spPr>
          <a:xfrm>
            <a:off x="3657600" y="4251960"/>
            <a:ext cx="164592" cy="164592"/>
          </a:xfrm>
          <a:prstGeom prst="rect">
            <a:avLst/>
          </a:prstGeom>
          <a:solidFill>
            <a:schemeClr val="bg1"/>
          </a:solidFill>
          <a:ln w="9525">
            <a:solidFill>
              <a:srgbClr val="D3DDE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904488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Gap (unused)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525780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E6B72"/>
                </a:solidFill>
              </a:rPr>
              <a:t>Score r²: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E6B72"/>
                </a:solidFill>
              </a:rPr>
              <a:t>1 = perfect, 0 = no better than guessing the average, below 0 = worse than that.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how accurate is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Share of floc-size variation explained (r²)</a:t>
            </a:r>
            <a:endParaRPr lang="en-US" sz="1200" dirty="0"/>
          </a:p>
        </p:txBody>
      </p:sp>
      <p:sp>
        <p:nvSpPr>
          <p:cNvPr id="4" name="Accuracy chart zero line"/>
          <p:cNvSpPr/>
          <p:nvPr/>
        </p:nvSpPr>
        <p:spPr>
          <a:xfrm>
            <a:off x="3291840" y="1508760"/>
            <a:ext cx="0" cy="3017520"/>
          </a:xfrm>
          <a:prstGeom prst="line">
            <a:avLst/>
          </a:prstGeom>
          <a:noFill/>
          <a:ln w="12700">
            <a:solidFill>
              <a:srgbClr val="5E6B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 paper, reported (random split)</a:t>
            </a:r>
            <a:endParaRPr lang="en-US" sz="1200" dirty="0"/>
          </a:p>
        </p:txBody>
      </p:sp>
      <p:sp>
        <p:nvSpPr>
          <p:cNvPr id="6" name="Accuracy chart bar 1"/>
          <p:cNvSpPr/>
          <p:nvPr/>
        </p:nvSpPr>
        <p:spPr>
          <a:xfrm>
            <a:off x="3291840" y="1645920"/>
            <a:ext cx="1666494" cy="32918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13198" y="150876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0.81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12264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Our copy of class-paper setup</a:t>
            </a:r>
            <a:endParaRPr lang="en-US" sz="1200" dirty="0"/>
          </a:p>
        </p:txBody>
      </p:sp>
      <p:sp>
        <p:nvSpPr>
          <p:cNvPr id="9" name="Accuracy chart bar 2"/>
          <p:cNvSpPr/>
          <p:nvPr/>
        </p:nvSpPr>
        <p:spPr>
          <a:xfrm>
            <a:off x="3291840" y="2249424"/>
            <a:ext cx="123444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1144" y="211226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0.60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71576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Our features, random split</a:t>
            </a:r>
            <a:endParaRPr lang="en-US" sz="1200" dirty="0"/>
          </a:p>
        </p:txBody>
      </p:sp>
      <p:sp>
        <p:nvSpPr>
          <p:cNvPr id="12" name="Accuracy chart bar 3"/>
          <p:cNvSpPr/>
          <p:nvPr/>
        </p:nvSpPr>
        <p:spPr>
          <a:xfrm>
            <a:off x="3291840" y="2852928"/>
            <a:ext cx="1316736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71576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0.64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19272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Our features, held-out time blocks</a:t>
            </a:r>
            <a:endParaRPr lang="en-US" sz="1200" dirty="0"/>
          </a:p>
        </p:txBody>
      </p:sp>
      <p:sp>
        <p:nvSpPr>
          <p:cNvPr id="15" name="Accuracy chart bar 4"/>
          <p:cNvSpPr/>
          <p:nvPr/>
        </p:nvSpPr>
        <p:spPr>
          <a:xfrm>
            <a:off x="3291840" y="3456432"/>
            <a:ext cx="699516" cy="32918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46220" y="331927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0.34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22776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One season, held-out blocks (best)</a:t>
            </a:r>
            <a:endParaRPr lang="en-US" sz="1200" dirty="0"/>
          </a:p>
        </p:txBody>
      </p:sp>
      <p:sp>
        <p:nvSpPr>
          <p:cNvPr id="18" name="Accuracy chart bar 5"/>
          <p:cNvSpPr/>
          <p:nvPr/>
        </p:nvSpPr>
        <p:spPr>
          <a:xfrm>
            <a:off x="3003804" y="4059936"/>
            <a:ext cx="288036" cy="32918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3922776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-0.14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1887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accuracy on unseen time periods, all seasons (95% interval 0.15 to 0.49)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when predicting a season the model never saw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what drives floc size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Drop in r² when the feature is shuffled</a:t>
            </a:r>
            <a:endParaRPr lang="en-US" sz="1200" dirty="0"/>
          </a:p>
        </p:txBody>
      </p:sp>
      <p:sp>
        <p:nvSpPr>
          <p:cNvPr id="4" name="Importance chart zero line"/>
          <p:cNvSpPr/>
          <p:nvPr/>
        </p:nvSpPr>
        <p:spPr>
          <a:xfrm>
            <a:off x="2240280" y="1508760"/>
            <a:ext cx="0" cy="2834640"/>
          </a:xfrm>
          <a:prstGeom prst="line">
            <a:avLst/>
          </a:prstGeom>
          <a:noFill/>
          <a:ln w="12700">
            <a:solidFill>
              <a:srgbClr val="5E6B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6916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ū₄  current 4 h ago</a:t>
            </a:r>
            <a:endParaRPr lang="en-US" sz="1200" dirty="0"/>
          </a:p>
        </p:txBody>
      </p:sp>
      <p:sp>
        <p:nvSpPr>
          <p:cNvPr id="6" name="Importance chart bar 1"/>
          <p:cNvSpPr/>
          <p:nvPr/>
        </p:nvSpPr>
        <p:spPr>
          <a:xfrm>
            <a:off x="2240280" y="1603248"/>
            <a:ext cx="1842516" cy="2834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37660" y="1508760"/>
            <a:ext cx="502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81200"/>
            <a:ext cx="16916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u_b  wave velocity</a:t>
            </a:r>
            <a:endParaRPr lang="en-US" sz="1200" dirty="0"/>
          </a:p>
        </p:txBody>
      </p:sp>
      <p:sp>
        <p:nvSpPr>
          <p:cNvPr id="9" name="Importance chart bar 2"/>
          <p:cNvSpPr/>
          <p:nvPr/>
        </p:nvSpPr>
        <p:spPr>
          <a:xfrm>
            <a:off x="2240280" y="2075688"/>
            <a:ext cx="1497787" cy="2834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2931" y="1981200"/>
            <a:ext cx="502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0.13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53640"/>
            <a:ext cx="16916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ū  current now</a:t>
            </a:r>
            <a:endParaRPr lang="en-US" sz="1200" dirty="0"/>
          </a:p>
        </p:txBody>
      </p:sp>
      <p:sp>
        <p:nvSpPr>
          <p:cNvPr id="12" name="Importance chart bar 3"/>
          <p:cNvSpPr/>
          <p:nvPr/>
        </p:nvSpPr>
        <p:spPr>
          <a:xfrm>
            <a:off x="2240280" y="2548128"/>
            <a:ext cx="594360" cy="2834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9504" y="2453640"/>
            <a:ext cx="502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0.05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16916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  salinity</a:t>
            </a:r>
            <a:endParaRPr lang="en-US" sz="1200" dirty="0"/>
          </a:p>
        </p:txBody>
      </p:sp>
      <p:sp>
        <p:nvSpPr>
          <p:cNvPr id="15" name="Importance chart bar 4"/>
          <p:cNvSpPr/>
          <p:nvPr/>
        </p:nvSpPr>
        <p:spPr>
          <a:xfrm>
            <a:off x="2240280" y="3020568"/>
            <a:ext cx="534924" cy="2834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0068" y="2926080"/>
            <a:ext cx="502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98520"/>
            <a:ext cx="16916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  temperature</a:t>
            </a:r>
            <a:endParaRPr lang="en-US" sz="1200" dirty="0"/>
          </a:p>
        </p:txBody>
      </p:sp>
      <p:sp>
        <p:nvSpPr>
          <p:cNvPr id="18" name="Importance chart bar 5"/>
          <p:cNvSpPr/>
          <p:nvPr/>
        </p:nvSpPr>
        <p:spPr>
          <a:xfrm>
            <a:off x="2240280" y="3493008"/>
            <a:ext cx="534924" cy="2834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0068" y="3398520"/>
            <a:ext cx="502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0.04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70960"/>
            <a:ext cx="169164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ε  turbulence</a:t>
            </a:r>
            <a:endParaRPr lang="en-US" sz="1200" dirty="0"/>
          </a:p>
        </p:txBody>
      </p:sp>
      <p:sp>
        <p:nvSpPr>
          <p:cNvPr id="21" name="Importance chart bar 6"/>
          <p:cNvSpPr/>
          <p:nvPr/>
        </p:nvSpPr>
        <p:spPr>
          <a:xfrm>
            <a:off x="2240280" y="3965448"/>
            <a:ext cx="166421" cy="2834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61565" y="3870960"/>
            <a:ext cx="502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0.01</a:t>
            </a:r>
            <a:endParaRPr lang="en-US" sz="1200" dirty="0"/>
          </a:p>
        </p:txBody>
      </p:sp>
      <p:sp>
        <p:nvSpPr>
          <p:cNvPr id="23" name="Agreement card"/>
          <p:cNvSpPr/>
          <p:nvPr/>
        </p:nvSpPr>
        <p:spPr>
          <a:xfrm>
            <a:off x="5394960" y="1143000"/>
            <a:ext cx="329184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96128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Matches the journal paper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1691640"/>
            <a:ext cx="2926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Stronger waves give smaller flocs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Stronger tide 4 h earlier brings larger flocs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Turbulence adds almost nothing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Salinity is weak within a season, unlike the class paper, which ranked it first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480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E6B72"/>
                </a:solidFill>
              </a:rPr>
              <a:t>Pooled model, all seasons. Longer bar = the model relies on it more.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what the model gets right and wrong</a:t>
            </a:r>
            <a:endParaRPr lang="en-US" sz="3000" dirty="0"/>
          </a:p>
        </p:txBody>
      </p:sp>
      <p:pic>
        <p:nvPicPr>
          <p:cNvPr id="3" name="Time series figure" descr="Measured and predicted floc size over time for each sea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349240" cy="34015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4988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E6B72"/>
                </a:solidFill>
              </a:rPr>
              <a:t>Grey: measured floc size. Colour: prediction for days the model never saw ('out-of-fold').</a:t>
            </a:r>
            <a:endParaRPr lang="en-US" sz="1100" dirty="0"/>
          </a:p>
        </p:txBody>
      </p:sp>
      <p:sp>
        <p:nvSpPr>
          <p:cNvPr id="5" name="Summary card"/>
          <p:cNvSpPr/>
          <p:nvPr/>
        </p:nvSpPr>
        <p:spPr>
          <a:xfrm>
            <a:off x="5943600" y="1143000"/>
            <a:ext cx="2743200" cy="329184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rgbClr val="D3DD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44768" y="1298448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Gets right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tide-to-tide rhythm, especially late Winter and Spring.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Gets wrong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Multi-day shifts in the average size, such as early Winter and late Summer. These are likely driven by biology and by where the mud comes from, which we cannot measure.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Conclusion badg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onclusion badge 1 label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0700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The physics matches the published paper: waves break flocs, and the delayed tide brings larger ones.</a:t>
            </a:r>
            <a:endParaRPr lang="en-US" sz="1500" dirty="0"/>
          </a:p>
        </p:txBody>
      </p:sp>
      <p:sp>
        <p:nvSpPr>
          <p:cNvPr id="6" name="Conclusion badge 2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Conclusion badge 2 label"/>
          <p:cNvSpPr txBox="1"/>
          <p:nvPr/>
        </p:nvSpPr>
        <p:spPr>
          <a:xfrm>
            <a:off x="4572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Physics alone explains about a third of floc-size variation across seasons (r² 0.34) and very little within one season.</a:t>
            </a:r>
            <a:endParaRPr lang="en-US" sz="1500" dirty="0"/>
          </a:p>
        </p:txBody>
      </p:sp>
      <p:sp>
        <p:nvSpPr>
          <p:cNvPr id="9" name="Conclusion badge 3"/>
          <p:cNvSpPr/>
          <p:nvPr/>
        </p:nvSpPr>
        <p:spPr>
          <a:xfrm>
            <a:off x="457200" y="27980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onclusion badge 3 label"/>
          <p:cNvSpPr txBox="1"/>
          <p:nvPr/>
        </p:nvSpPr>
        <p:spPr>
          <a:xfrm>
            <a:off x="45720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1635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Random splits inflate accuracy: the same model scores 0.64 that way, which explains much of the class paper's 0.81.</a:t>
            </a:r>
            <a:endParaRPr lang="en-US" sz="1500" dirty="0"/>
          </a:p>
        </p:txBody>
      </p:sp>
      <p:sp>
        <p:nvSpPr>
          <p:cNvPr id="12" name="Conclusion badge 4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Conclusion badge 4 label"/>
          <p:cNvSpPr txBox="1"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62102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 model meant to last years needs biology and sediment sensors and more deployments, more than a new algorithm.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bg2"/>
                </a:solidFill>
              </a:rPr>
              <a:t>Next step: the same group's optics data on Dryad, which lists a 15 cm sizer and a particle-type index.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and reasons for the difference</a:t>
            </a:r>
            <a:endParaRPr lang="en-US" sz="3000" dirty="0"/>
          </a:p>
        </p:txBody>
      </p:sp>
      <p:graphicFrame>
        <p:nvGraphicFramePr>
          <p:cNvPr id="1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057400"/>
                <a:gridCol w="2834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Journal paper (2022)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Class paper (CS229)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This project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Inputs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11: physics, biology, sediment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8: physics, biology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6: physics only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Optics platform, sizer 15 cm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Single optics platform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Platform P2, sizer 35 cm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LASSO + feature elimination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Forest, SVR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Forest (main), SVR, LASSO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How scored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Fit on its own data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Random 70/30 split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Held-out time blocks, plus both of theirs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Reported r²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0.15 to 0.65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0.81 (RF), 0.76 (SVR)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0.34 held-out; 0.60 / 0.53 class setup; 0.17 to 0.43 fit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ason badge 1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Reason badge 1 label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749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Missing inputs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 particle-type or chlorophyll data. These drive spring and multi-day changes.</a:t>
            </a:r>
            <a:endParaRPr lang="en-US" sz="1400" dirty="0"/>
          </a:p>
        </p:txBody>
      </p:sp>
      <p:sp>
        <p:nvSpPr>
          <p:cNvPr id="7" name="Reason badge 2"/>
          <p:cNvSpPr/>
          <p:nvPr/>
        </p:nvSpPr>
        <p:spPr>
          <a:xfrm>
            <a:off x="3264408" y="3794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Reason badge 2 label"/>
          <p:cNvSpPr txBox="1"/>
          <p:nvPr/>
        </p:nvSpPr>
        <p:spPr>
          <a:xfrm>
            <a:off x="326440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767328" y="3749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Scoring method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Random splits and fits on the same data reward memorising neighbouring hours.</a:t>
            </a:r>
            <a:endParaRPr lang="en-US" sz="1400" dirty="0"/>
          </a:p>
        </p:txBody>
      </p:sp>
      <p:sp>
        <p:nvSpPr>
          <p:cNvPr id="10" name="Reason badge 3"/>
          <p:cNvSpPr/>
          <p:nvPr/>
        </p:nvSpPr>
        <p:spPr>
          <a:xfrm>
            <a:off x="6071616" y="3794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Reason badge 3 label"/>
          <p:cNvSpPr txBox="1"/>
          <p:nvPr/>
        </p:nvSpPr>
        <p:spPr>
          <a:xfrm>
            <a:off x="6071616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4536" y="3749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Different spot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35 cm vs 15 cm above the bed, and a different platform.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uary">
  <a:themeElements>
    <a:clrScheme name="Estuary">
      <a:dk1>
        <a:srgbClr val="1B2A33"/>
      </a:dk1>
      <a:lt1>
        <a:srgbClr val="FFFFFF"/>
      </a:lt1>
      <a:dk2>
        <a:srgbClr val="1F4E5F"/>
      </a:dk2>
      <a:lt2>
        <a:srgbClr val="EEF3F4"/>
      </a:lt2>
      <a:accent1>
        <a:srgbClr val="1F4E5F"/>
      </a:accent1>
      <a:accent2>
        <a:srgbClr val="B8732A"/>
      </a:accent2>
      <a:accent3>
        <a:srgbClr val="6B8F71"/>
      </a:accent3>
      <a:accent4>
        <a:srgbClr val="8A6E5A"/>
      </a:accent4>
      <a:accent5>
        <a:srgbClr val="5C7A89"/>
      </a:accent5>
      <a:accent6>
        <a:srgbClr val="A23B3B"/>
      </a:accent6>
      <a:hlink>
        <a:srgbClr val="1F4E5F"/>
      </a:hlink>
      <a:folHlink>
        <a:srgbClr val="5C7A89"/>
      </a:folHlink>
    </a:clrScheme>
    <a:fontScheme name="Estua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floc size in South San Francisco Bay</dc:title>
  <dc:subject>PptxGenJS Presentation</dc:subject>
  <dc:creator>ML Mini Project, Team 7</dc:creator>
  <cp:lastModifiedBy>ML Mini Project, Team 7</cp:lastModifiedBy>
  <cp:revision>1</cp:revision>
  <dcterms:created xsi:type="dcterms:W3CDTF">2026-10-12T15:22:20Z</dcterms:created>
  <dcterms:modified xsi:type="dcterms:W3CDTF">2026-10-12T15:22:20Z</dcterms:modified>
</cp:coreProperties>
</file>