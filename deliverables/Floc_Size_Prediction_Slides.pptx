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6540f57-116c-ce88-6618-0fd8c4cdcf0d}">
          <p14:sldIdLst>
            <p14:sldId id="256"/>
            <p14:sldId id="257"/>
          </p14:sldIdLst>
        </p14:section>
        <p14:section name="Background" id="{b88fc387-5e27-1c5d-7bc3-aa7ff4c2b97c}">
          <p14:sldIdLst>
            <p14:sldId id="258"/>
            <p14:sldId id="259"/>
          </p14:sldIdLst>
        </p14:section>
        <p14:section name="Approach" id="{bfc6b971-5027-e942-81ef-5d20cd6c9708}">
          <p14:sldIdLst>
            <p14:sldId id="260"/>
            <p14:sldId id="261"/>
            <p14:sldId id="262"/>
          </p14:sldIdLst>
        </p14:section>
        <p14:section name="Model" id="{b1b68a48-3cd4-59aa-e439-9abf7f59e5ac}">
          <p14:sldIdLst>
            <p14:sldId id="263"/>
            <p14:sldId id="264"/>
          </p14:sldIdLst>
        </p14:section>
        <p14:section name="Results" id="{98722e04-20f3-a4b3-4ac7-ed5a9657511d}">
          <p14:sldIdLst>
            <p14:sldId id="265"/>
            <p14:sldId id="266"/>
            <p14:sldId id="267"/>
          </p14:sldIdLst>
        </p14:section>
        <p14:section name="Conclusions" id="{212bacfc-8443-396f-8571-9770ee295b81}">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we try to predict the size of mud flocs in San Francisco Bay using only physical measurements, and we compare against a published journal paper and an internal class project by the same author.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it as a regression problem: tabular inputs, one continuous output. The key twist is the test: we care about new days and new seasons, not just a good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Motivation for a CS audience: floc size is an input every sediment transport model needs, it varies a lot, and it is expensive to measure. A predictive model would be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theory in one slide. Flocs are clumps of mud and organic matter. Three processes: aggregation, breakup by shear, and transport by the tide. Stokes law shows why size matters so much: settling speed scales with diameter squared.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dataset from the Stanford Digital Repository. We downloaded only the files we needed with HTTP range requests. Emphasise what is missing: the biology sensors.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engineering follows the journal paper exactly. Features: the six physical variables we could rebuild from the public data. Wave velocity is computed from the frequency spectrum of the current meter signal and checked against linear wave theory (r about 0.95).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pipeline left to right. Each box is a file in the repo. For the live demo we run build_features.py once (about 30 s) and then run_random_forest.py, which prints the comparison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slide. We kept the Random Forest from the internal paper so our numbers are directly comparable, and because it fits small, noisy, non-linear tabular data well. We also ran LASSO, which the journal paper used, and SVR, the internal paper's other model. Be upfront about the two weaknesses: no extrapolation and autocorrelated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methodological choice. Hourly floc size changes slowly, so a random split lets the model see the hour before and after every test hour. Time-blocked splits remove whole stretches, which is how a real forecast would be used. Leave-one-season-out is the hardest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features score 0.64 on a random split but 0.34 when whole stretches of time are held out. Single-season models do not beat guessing the average. Our copy of the class-paper setup reaches 0.60 against its reported 0.81; the gap is mostly the missing particle-type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Permutation importance: shuffle one feature at a time on held-out data and see how much accuracy drops. The two physical drivers from the journal paper come out on top. Salinity and temperature mostly act as a season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tracks the short tidal oscillations but misses slow, multi-day changes in floc size. That is exactly where biology matters, according to the journal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Be honest that the predictive accuracy is modest, and explain that this is a finding, not a failure: it shows what physics can and cannot do, and why the published numbers look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Side by side. Measured the way each paper measured it, our scores land close: 0.17 to 0.43 against the journal's 0.15 to 0.65, and 0.60 against the class paper's 0.81. The three reasons for the remaining gap are missing biology inputs, the scoring method, and the measurement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371600"/>
          </a:xfrm>
          <a:prstGeom prst="rect">
            <a:avLst/>
          </a:prstGeom>
          <a:noFill/>
          <a:ln/>
        </p:spPr>
        <p:txBody>
          <a:bodyPr wrap="square" rtlCol="0"/>
          <a:lstStyle>
            <a:lvl1pPr algn="l" indent="0" marL="0">
              <a:buNone/>
              <a:defRPr lang="en-US" sz="3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3" name="Text 0"/>
          <p:cNvSpPr/>
          <p:nvPr>
            <p:ph idx="101" type="body" hasCustomPrompt="1"/>
          </p:nvPr>
        </p:nvSpPr>
        <p:spPr>
          <a:xfrm>
            <a:off x="548640" y="2788920"/>
            <a:ext cx="8046720" cy="1097280"/>
          </a:xfrm>
          <a:prstGeom prst="rect">
            <a:avLst/>
          </a:prstGeom>
          <a:noFill/>
          <a:ln/>
        </p:spPr>
        <p:txBody>
          <a:bodyPr wrap="square" rtlCol="0"/>
          <a:lstStyle>
            <a:lvl1pPr indent="0" marL="0">
              <a:buNone/>
              <a:defRPr lang="en-US" sz="1800" dirty="0">
                <a:solidFill>
                  <a:schemeClr val="bg2"/>
                </a:solidFill>
                <a:latin typeface="Calibri" pitchFamily="34" charset="0"/>
                <a:ea typeface="Calibri" pitchFamily="34" charset="-122"/>
                <a:cs typeface="Calibri" pitchFamily="34" charset="-120"/>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371600"/>
          </a:xfrm>
          <a:prstGeom prst="rect">
            <a:avLst/>
          </a:prstGeom>
          <a:noFill/>
          <a:ln/>
        </p:spPr>
        <p:txBody>
          <a:bodyPr wrap="square" lIns="0" tIns="0" rIns="0" bIns="0" rtlCol="0" anchor="b"/>
          <a:lstStyle/>
          <a:p>
            <a:pPr algn="l" indent="0" marL="0">
              <a:buNone/>
            </a:pPr>
            <a:r>
              <a:rPr lang="en-US" sz="3600" b="1" dirty="0">
                <a:solidFill>
                  <a:schemeClr val="bg1"/>
                </a:solidFill>
                <a:latin typeface="Cambria" pitchFamily="34" charset="0"/>
                <a:ea typeface="Cambria" pitchFamily="34" charset="-122"/>
                <a:cs typeface="Cambria" pitchFamily="34" charset="-120"/>
              </a:rPr>
              <a:t>Predicting Floc Size in South San Francisco Bay</a:t>
            </a:r>
            <a:endParaRPr lang="en-US" sz="3600" dirty="0"/>
          </a:p>
        </p:txBody>
      </p:sp>
      <p:sp>
        <p:nvSpPr>
          <p:cNvPr id="3" name="Text 0"/>
          <p:cNvSpPr/>
          <p:nvPr>
            <p:ph idx="101" type="body" hasCustomPrompt="1"/>
          </p:nvPr>
        </p:nvSpPr>
        <p:spPr>
          <a:xfrm>
            <a:off x="548640" y="2788920"/>
            <a:ext cx="8046720" cy="1097280"/>
          </a:xfrm>
          <a:prstGeom prst="rect">
            <a:avLst/>
          </a:prstGeom>
          <a:noFill/>
          <a:ln/>
        </p:spPr>
        <p:txBody>
          <a:bodyPr wrap="square" lIns="0" tIns="0" rIns="0" bIns="0" rtlCol="0" anchor="t"/>
          <a:lstStyle/>
          <a:p>
            <a:pPr indent="0" marL="0">
              <a:buNone/>
            </a:pPr>
            <a:r>
              <a:rPr lang="en-US" sz="1800" dirty="0">
                <a:solidFill>
                  <a:schemeClr val="bg2"/>
                </a:solidFill>
                <a:latin typeface="Calibri" pitchFamily="34" charset="0"/>
                <a:ea typeface="Calibri" pitchFamily="34" charset="-122"/>
                <a:cs typeface="Calibri" pitchFamily="34" charset="-120"/>
              </a:rPr>
              <a:t>Can waves and currents alone tell us how big suspended mud particles are?</a:t>
            </a:r>
            <a:endParaRPr lang="en-US" sz="1800" dirty="0"/>
          </a:p>
          <a:p>
            <a:pPr indent="0" marL="0">
              <a:buNone/>
            </a:pPr>
            <a:r>
              <a:rPr lang="en-US" sz="1400" dirty="0">
                <a:solidFill>
                  <a:schemeClr val="bg2"/>
                </a:solidFill>
                <a:latin typeface="Calibri" pitchFamily="34" charset="0"/>
                <a:ea typeface="Calibri" pitchFamily="34" charset="-122"/>
                <a:cs typeface="Calibri" pitchFamily="34" charset="-120"/>
              </a:rPr>
              <a:t>A physics-only replication of Egan et al. (2022) and Egan's CS229 study</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Problem statement</a:t>
            </a:r>
            <a:endParaRPr lang="en-US" sz="3000" dirty="0"/>
          </a:p>
        </p:txBody>
      </p:sp>
      <p:sp>
        <p:nvSpPr>
          <p:cNvPr id="3" name="Question card"/>
          <p:cNvSpPr/>
          <p:nvPr/>
        </p:nvSpPr>
        <p:spPr>
          <a:xfrm>
            <a:off x="457200" y="1188720"/>
            <a:ext cx="3749040" cy="3383280"/>
          </a:xfrm>
          <a:prstGeom prst="roundRect">
            <a:avLst>
              <a:gd name="adj" fmla="val 2162"/>
            </a:avLst>
          </a:prstGeom>
          <a:solidFill>
            <a:schemeClr val="bg1"/>
          </a:solidFill>
          <a:ln w="12700">
            <a:solidFill>
              <a:srgbClr val="D3DDE0"/>
            </a:solidFill>
            <a:prstDash val="solid"/>
          </a:ln>
        </p:spPr>
      </p:sp>
      <p:sp>
        <p:nvSpPr>
          <p:cNvPr id="4" name="Text 2"/>
          <p:cNvSpPr txBox="1"/>
          <p:nvPr/>
        </p:nvSpPr>
        <p:spPr>
          <a:xfrm>
            <a:off x="731520" y="1463040"/>
            <a:ext cx="3200400" cy="2011680"/>
          </a:xfrm>
          <a:prstGeom prst="rect">
            <a:avLst/>
          </a:prstGeom>
          <a:noFill/>
          <a:ln/>
        </p:spPr>
        <p:txBody>
          <a:bodyPr wrap="square" lIns="0" tIns="0" rIns="0" bIns="0" rtlCol="0" anchor="t"/>
          <a:lstStyle/>
          <a:p>
            <a:pPr indent="0" marL="0">
              <a:spcAft>
                <a:spcPts val="400"/>
              </a:spcAft>
              <a:buNone/>
            </a:pPr>
            <a:r>
              <a:rPr lang="en-US" sz="1300" b="1" dirty="0">
                <a:solidFill>
                  <a:schemeClr val="accent2"/>
                </a:solidFill>
              </a:rPr>
              <a:t>The question</a:t>
            </a:r>
            <a:endParaRPr lang="en-US" sz="1400" dirty="0"/>
          </a:p>
          <a:p>
            <a:pPr indent="0" marL="0">
              <a:spcAft>
                <a:spcPts val="400"/>
              </a:spcAft>
              <a:buNone/>
            </a:pPr>
            <a:r>
              <a:rPr lang="en-US" sz="2200" dirty="0">
                <a:solidFill>
                  <a:schemeClr val="tx2"/>
                </a:solidFill>
                <a:latin typeface="Cambria" pitchFamily="34" charset="0"/>
                <a:ea typeface="Cambria" pitchFamily="34" charset="-122"/>
                <a:cs typeface="Cambria" pitchFamily="34" charset="-120"/>
              </a:rPr>
              <a:t>Can we predict the size of suspended mud flocs from wave and current measurements alone?</a:t>
            </a:r>
            <a:endParaRPr lang="en-US" sz="1400" dirty="0"/>
          </a:p>
        </p:txBody>
      </p:sp>
      <p:sp>
        <p:nvSpPr>
          <p:cNvPr id="5" name="Text 3"/>
          <p:cNvSpPr txBox="1"/>
          <p:nvPr/>
        </p:nvSpPr>
        <p:spPr>
          <a:xfrm>
            <a:off x="731520" y="3611880"/>
            <a:ext cx="3200400" cy="822960"/>
          </a:xfrm>
          <a:prstGeom prst="rect">
            <a:avLst/>
          </a:prstGeom>
          <a:noFill/>
          <a:ln/>
        </p:spPr>
        <p:txBody>
          <a:bodyPr wrap="square" lIns="0" tIns="0" rIns="0" bIns="0" rtlCol="0" anchor="t"/>
          <a:lstStyle/>
          <a:p>
            <a:pPr indent="0" marL="0">
              <a:spcAft>
                <a:spcPts val="400"/>
              </a:spcAft>
              <a:buNone/>
            </a:pPr>
            <a:r>
              <a:rPr lang="en-US" sz="1300" dirty="0">
                <a:solidFill>
                  <a:srgbClr val="5E6B72"/>
                </a:solidFill>
              </a:rPr>
              <a:t>Why physics only: biology sensors are costly, need frequent cleaning, and are not in the public dataset.</a:t>
            </a:r>
            <a:endParaRPr lang="en-US" sz="1300" dirty="0"/>
          </a:p>
        </p:txBody>
      </p:sp>
      <p:sp>
        <p:nvSpPr>
          <p:cNvPr id="6" name="Problem badge 1"/>
          <p:cNvSpPr/>
          <p:nvPr/>
        </p:nvSpPr>
        <p:spPr>
          <a:xfrm>
            <a:off x="4572000" y="1234440"/>
            <a:ext cx="384048" cy="384048"/>
          </a:xfrm>
          <a:prstGeom prst="ellipse">
            <a:avLst/>
          </a:prstGeom>
          <a:solidFill>
            <a:schemeClr val="accent2"/>
          </a:solidFill>
          <a:ln w="12700">
            <a:solidFill>
              <a:schemeClr val="accent2"/>
            </a:solidFill>
            <a:prstDash val="solid"/>
          </a:ln>
        </p:spPr>
      </p:sp>
      <p:sp>
        <p:nvSpPr>
          <p:cNvPr id="7" name="Problem badge 1 label"/>
          <p:cNvSpPr txBox="1"/>
          <p:nvPr/>
        </p:nvSpPr>
        <p:spPr>
          <a:xfrm>
            <a:off x="4572000" y="12344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Text 6"/>
          <p:cNvSpPr txBox="1"/>
          <p:nvPr/>
        </p:nvSpPr>
        <p:spPr>
          <a:xfrm>
            <a:off x="5120640" y="1216152"/>
            <a:ext cx="3566160" cy="96012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Input</a:t>
            </a:r>
            <a:endParaRPr lang="en-US" sz="1400" dirty="0"/>
          </a:p>
          <a:p>
            <a:pPr indent="0" marL="0">
              <a:spcAft>
                <a:spcPts val="400"/>
              </a:spcAft>
              <a:buNone/>
            </a:pPr>
            <a:r>
              <a:rPr lang="en-US" sz="1400" dirty="0">
                <a:solidFill>
                  <a:schemeClr val="tx1"/>
                </a:solidFill>
              </a:rPr>
              <a:t>Hourly measurements of waves, tidal current, turbulence, temperature and salinity.</a:t>
            </a:r>
            <a:endParaRPr lang="en-US" sz="1400" dirty="0"/>
          </a:p>
        </p:txBody>
      </p:sp>
      <p:sp>
        <p:nvSpPr>
          <p:cNvPr id="9" name="Problem badge 2"/>
          <p:cNvSpPr/>
          <p:nvPr/>
        </p:nvSpPr>
        <p:spPr>
          <a:xfrm>
            <a:off x="4572000" y="2350008"/>
            <a:ext cx="384048" cy="384048"/>
          </a:xfrm>
          <a:prstGeom prst="ellipse">
            <a:avLst/>
          </a:prstGeom>
          <a:solidFill>
            <a:schemeClr val="accent2"/>
          </a:solidFill>
          <a:ln w="12700">
            <a:solidFill>
              <a:schemeClr val="accent2"/>
            </a:solidFill>
            <a:prstDash val="solid"/>
          </a:ln>
        </p:spPr>
      </p:sp>
      <p:sp>
        <p:nvSpPr>
          <p:cNvPr id="10" name="Problem badge 2 label"/>
          <p:cNvSpPr txBox="1"/>
          <p:nvPr/>
        </p:nvSpPr>
        <p:spPr>
          <a:xfrm>
            <a:off x="4572000" y="235000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9"/>
          <p:cNvSpPr txBox="1"/>
          <p:nvPr/>
        </p:nvSpPr>
        <p:spPr>
          <a:xfrm>
            <a:off x="5120640" y="2331720"/>
            <a:ext cx="3566160" cy="96012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Output</a:t>
            </a:r>
            <a:endParaRPr lang="en-US" sz="1400" dirty="0"/>
          </a:p>
          <a:p>
            <a:pPr indent="0" marL="0">
              <a:spcAft>
                <a:spcPts val="400"/>
              </a:spcAft>
              <a:buNone/>
            </a:pPr>
            <a:r>
              <a:rPr lang="en-US" sz="1400" dirty="0">
                <a:solidFill>
                  <a:schemeClr val="tx1"/>
                </a:solidFill>
              </a:rPr>
              <a:t>Mean floc diameter d (micrometres), measured by a laser particle sizer (LISST).</a:t>
            </a:r>
            <a:endParaRPr lang="en-US" sz="1400" dirty="0"/>
          </a:p>
        </p:txBody>
      </p:sp>
      <p:sp>
        <p:nvSpPr>
          <p:cNvPr id="12" name="Problem badge 3"/>
          <p:cNvSpPr/>
          <p:nvPr/>
        </p:nvSpPr>
        <p:spPr>
          <a:xfrm>
            <a:off x="4572000" y="3465576"/>
            <a:ext cx="384048" cy="384048"/>
          </a:xfrm>
          <a:prstGeom prst="ellipse">
            <a:avLst/>
          </a:prstGeom>
          <a:solidFill>
            <a:schemeClr val="accent2"/>
          </a:solidFill>
          <a:ln w="12700">
            <a:solidFill>
              <a:schemeClr val="accent2"/>
            </a:solidFill>
            <a:prstDash val="solid"/>
          </a:ln>
        </p:spPr>
      </p:sp>
      <p:sp>
        <p:nvSpPr>
          <p:cNvPr id="13" name="Problem badge 3 label"/>
          <p:cNvSpPr txBox="1"/>
          <p:nvPr/>
        </p:nvSpPr>
        <p:spPr>
          <a:xfrm>
            <a:off x="4572000" y="34655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2"/>
          <p:cNvSpPr txBox="1"/>
          <p:nvPr/>
        </p:nvSpPr>
        <p:spPr>
          <a:xfrm>
            <a:off x="5120640" y="3447288"/>
            <a:ext cx="3566160" cy="96012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Test</a:t>
            </a:r>
            <a:endParaRPr lang="en-US" sz="1400" dirty="0"/>
          </a:p>
          <a:p>
            <a:pPr indent="0" marL="0">
              <a:spcAft>
                <a:spcPts val="400"/>
              </a:spcAft>
              <a:buNone/>
            </a:pPr>
            <a:r>
              <a:rPr lang="en-US" sz="1400" dirty="0">
                <a:solidFill>
                  <a:schemeClr val="tx1"/>
                </a:solidFill>
              </a:rPr>
              <a:t>Does the model still work on days, and seasons, it has never seen?</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Why floc size matters</a:t>
            </a:r>
            <a:endParaRPr lang="en-US" sz="3000" dirty="0"/>
          </a:p>
        </p:txBody>
      </p:sp>
      <p:sp>
        <p:nvSpPr>
          <p:cNvPr id="3" name="Motivation card 1"/>
          <p:cNvSpPr/>
          <p:nvPr/>
        </p:nvSpPr>
        <p:spPr>
          <a:xfrm>
            <a:off x="457200" y="1188720"/>
            <a:ext cx="2615184" cy="2514600"/>
          </a:xfrm>
          <a:prstGeom prst="roundRect">
            <a:avLst>
              <a:gd name="adj" fmla="val 2909"/>
            </a:avLst>
          </a:prstGeom>
          <a:solidFill>
            <a:schemeClr val="bg1"/>
          </a:solidFill>
          <a:ln w="12700">
            <a:solidFill>
              <a:srgbClr val="D3DDE0"/>
            </a:solidFill>
            <a:prstDash val="solid"/>
          </a:ln>
        </p:spPr>
      </p:sp>
      <p:sp>
        <p:nvSpPr>
          <p:cNvPr id="4" name="Motivation badge 1"/>
          <p:cNvSpPr/>
          <p:nvPr/>
        </p:nvSpPr>
        <p:spPr>
          <a:xfrm>
            <a:off x="685800" y="1389888"/>
            <a:ext cx="384048" cy="384048"/>
          </a:xfrm>
          <a:prstGeom prst="ellipse">
            <a:avLst/>
          </a:prstGeom>
          <a:solidFill>
            <a:schemeClr val="accent2"/>
          </a:solidFill>
          <a:ln w="12700">
            <a:solidFill>
              <a:schemeClr val="accent2"/>
            </a:solidFill>
            <a:prstDash val="solid"/>
          </a:ln>
        </p:spPr>
      </p:sp>
      <p:sp>
        <p:nvSpPr>
          <p:cNvPr id="5" name="Motivation badge 1 label"/>
          <p:cNvSpPr txBox="1"/>
          <p:nvPr/>
        </p:nvSpPr>
        <p:spPr>
          <a:xfrm>
            <a:off x="685800" y="138988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685800" y="1901952"/>
            <a:ext cx="2194560" cy="173736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Settling speed</a:t>
            </a:r>
            <a:endParaRPr lang="en-US" sz="1400" dirty="0"/>
          </a:p>
          <a:p>
            <a:pPr indent="0" marL="0">
              <a:spcAft>
                <a:spcPts val="400"/>
              </a:spcAft>
              <a:buNone/>
            </a:pPr>
            <a:r>
              <a:rPr lang="en-US" sz="1400" dirty="0">
                <a:solidFill>
                  <a:schemeClr val="tx1"/>
                </a:solidFill>
              </a:rPr>
              <a:t>Bigger flocs sink faster. Speed grows with diameter squared, so a 2x error in size is a 4x error in where mud settles.</a:t>
            </a:r>
            <a:endParaRPr lang="en-US" sz="1400" dirty="0"/>
          </a:p>
        </p:txBody>
      </p:sp>
      <p:sp>
        <p:nvSpPr>
          <p:cNvPr id="7" name="Motivation card 2"/>
          <p:cNvSpPr/>
          <p:nvPr/>
        </p:nvSpPr>
        <p:spPr>
          <a:xfrm>
            <a:off x="3264408" y="1188720"/>
            <a:ext cx="2615184" cy="2514600"/>
          </a:xfrm>
          <a:prstGeom prst="roundRect">
            <a:avLst>
              <a:gd name="adj" fmla="val 2909"/>
            </a:avLst>
          </a:prstGeom>
          <a:solidFill>
            <a:schemeClr val="bg1"/>
          </a:solidFill>
          <a:ln w="12700">
            <a:solidFill>
              <a:srgbClr val="D3DDE0"/>
            </a:solidFill>
            <a:prstDash val="solid"/>
          </a:ln>
        </p:spPr>
      </p:sp>
      <p:sp>
        <p:nvSpPr>
          <p:cNvPr id="8" name="Motivation badge 2"/>
          <p:cNvSpPr/>
          <p:nvPr/>
        </p:nvSpPr>
        <p:spPr>
          <a:xfrm>
            <a:off x="3493008" y="1389888"/>
            <a:ext cx="384048" cy="384048"/>
          </a:xfrm>
          <a:prstGeom prst="ellipse">
            <a:avLst/>
          </a:prstGeom>
          <a:solidFill>
            <a:schemeClr val="accent2"/>
          </a:solidFill>
          <a:ln w="12700">
            <a:solidFill>
              <a:schemeClr val="accent2"/>
            </a:solidFill>
            <a:prstDash val="solid"/>
          </a:ln>
        </p:spPr>
      </p:sp>
      <p:sp>
        <p:nvSpPr>
          <p:cNvPr id="9" name="Motivation badge 2 label"/>
          <p:cNvSpPr txBox="1"/>
          <p:nvPr/>
        </p:nvSpPr>
        <p:spPr>
          <a:xfrm>
            <a:off x="3493008" y="138988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8"/>
          <p:cNvSpPr txBox="1"/>
          <p:nvPr/>
        </p:nvSpPr>
        <p:spPr>
          <a:xfrm>
            <a:off x="3493008" y="1901952"/>
            <a:ext cx="2194560" cy="173736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Coasts and ports</a:t>
            </a:r>
            <a:endParaRPr lang="en-US" sz="1400" dirty="0"/>
          </a:p>
          <a:p>
            <a:pPr indent="0" marL="0">
              <a:spcAft>
                <a:spcPts val="400"/>
              </a:spcAft>
              <a:buNone/>
            </a:pPr>
            <a:r>
              <a:rPr lang="en-US" sz="1400" dirty="0">
                <a:solidFill>
                  <a:schemeClr val="tx1"/>
                </a:solidFill>
              </a:rPr>
              <a:t>Sediment models guide dredging, marsh restoration and sea-level defences. They need a settling speed that is rarely measured.</a:t>
            </a:r>
            <a:endParaRPr lang="en-US" sz="1400" dirty="0"/>
          </a:p>
        </p:txBody>
      </p:sp>
      <p:sp>
        <p:nvSpPr>
          <p:cNvPr id="11" name="Motivation card 3"/>
          <p:cNvSpPr/>
          <p:nvPr/>
        </p:nvSpPr>
        <p:spPr>
          <a:xfrm>
            <a:off x="6071616" y="1188720"/>
            <a:ext cx="2615184" cy="2514600"/>
          </a:xfrm>
          <a:prstGeom prst="roundRect">
            <a:avLst>
              <a:gd name="adj" fmla="val 2909"/>
            </a:avLst>
          </a:prstGeom>
          <a:solidFill>
            <a:schemeClr val="bg1"/>
          </a:solidFill>
          <a:ln w="12700">
            <a:solidFill>
              <a:srgbClr val="D3DDE0"/>
            </a:solidFill>
            <a:prstDash val="solid"/>
          </a:ln>
        </p:spPr>
      </p:sp>
      <p:sp>
        <p:nvSpPr>
          <p:cNvPr id="12" name="Motivation badge 3"/>
          <p:cNvSpPr/>
          <p:nvPr/>
        </p:nvSpPr>
        <p:spPr>
          <a:xfrm>
            <a:off x="6300216" y="1389888"/>
            <a:ext cx="384048" cy="384048"/>
          </a:xfrm>
          <a:prstGeom prst="ellipse">
            <a:avLst/>
          </a:prstGeom>
          <a:solidFill>
            <a:schemeClr val="accent2"/>
          </a:solidFill>
          <a:ln w="12700">
            <a:solidFill>
              <a:schemeClr val="accent2"/>
            </a:solidFill>
            <a:prstDash val="solid"/>
          </a:ln>
        </p:spPr>
      </p:sp>
      <p:sp>
        <p:nvSpPr>
          <p:cNvPr id="13" name="Motivation badge 3 label"/>
          <p:cNvSpPr txBox="1"/>
          <p:nvPr/>
        </p:nvSpPr>
        <p:spPr>
          <a:xfrm>
            <a:off x="6300216" y="138988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2"/>
          <p:cNvSpPr txBox="1"/>
          <p:nvPr/>
        </p:nvSpPr>
        <p:spPr>
          <a:xfrm>
            <a:off x="6300216" y="1901952"/>
            <a:ext cx="2194560" cy="173736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Pollutants and ecology</a:t>
            </a:r>
            <a:endParaRPr lang="en-US" sz="1400" dirty="0"/>
          </a:p>
          <a:p>
            <a:pPr indent="0" marL="0">
              <a:spcAft>
                <a:spcPts val="400"/>
              </a:spcAft>
              <a:buNone/>
            </a:pPr>
            <a:r>
              <a:rPr lang="en-US" sz="1400" dirty="0">
                <a:solidFill>
                  <a:schemeClr val="tx1"/>
                </a:solidFill>
              </a:rPr>
              <a:t>Contaminants and algae travel on flocs, so floc size decides where they end up.</a:t>
            </a:r>
            <a:endParaRPr lang="en-US" sz="1400" dirty="0"/>
          </a:p>
        </p:txBody>
      </p:sp>
      <p:sp>
        <p:nvSpPr>
          <p:cNvPr id="15" name="Text 13"/>
          <p:cNvSpPr txBox="1"/>
          <p:nvPr/>
        </p:nvSpPr>
        <p:spPr>
          <a:xfrm>
            <a:off x="457200" y="3931920"/>
            <a:ext cx="8229600" cy="548640"/>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The gap: </a:t>
            </a:r>
            <a:pPr indent="0" marL="0">
              <a:spcAft>
                <a:spcPts val="400"/>
              </a:spcAft>
              <a:buNone/>
            </a:pPr>
            <a:r>
              <a:rPr lang="en-US" sz="1500" dirty="0">
                <a:solidFill>
                  <a:schemeClr val="tx1"/>
                </a:solidFill>
              </a:rPr>
              <a:t>most models assume one fixed floc size, yet our data shows it changes by about 3x within a single season.</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flocs grow and break</a:t>
            </a:r>
            <a:endParaRPr lang="en-US" sz="3000" dirty="0"/>
          </a:p>
        </p:txBody>
      </p:sp>
      <p:sp>
        <p:nvSpPr>
          <p:cNvPr id="3" name="Theory card 1"/>
          <p:cNvSpPr/>
          <p:nvPr/>
        </p:nvSpPr>
        <p:spPr>
          <a:xfrm>
            <a:off x="457200" y="1188720"/>
            <a:ext cx="4572000" cy="987552"/>
          </a:xfrm>
          <a:prstGeom prst="roundRect">
            <a:avLst>
              <a:gd name="adj" fmla="val 7407"/>
            </a:avLst>
          </a:prstGeom>
          <a:solidFill>
            <a:schemeClr val="bg1"/>
          </a:solidFill>
          <a:ln w="12700">
            <a:solidFill>
              <a:srgbClr val="D3DDE0"/>
            </a:solidFill>
            <a:prstDash val="solid"/>
          </a:ln>
        </p:spPr>
      </p:sp>
      <p:sp>
        <p:nvSpPr>
          <p:cNvPr id="4" name="Theory dot 1"/>
          <p:cNvSpPr/>
          <p:nvPr/>
        </p:nvSpPr>
        <p:spPr>
          <a:xfrm>
            <a:off x="658368" y="1463040"/>
            <a:ext cx="438912" cy="438912"/>
          </a:xfrm>
          <a:prstGeom prst="ellipse">
            <a:avLst/>
          </a:prstGeom>
          <a:solidFill>
            <a:schemeClr val="accent3"/>
          </a:solidFill>
          <a:ln w="12700">
            <a:solidFill>
              <a:schemeClr val="accent3"/>
            </a:solidFill>
            <a:prstDash val="solid"/>
          </a:ln>
        </p:spPr>
      </p:sp>
      <p:sp>
        <p:nvSpPr>
          <p:cNvPr id="5" name="Text 3"/>
          <p:cNvSpPr txBox="1"/>
          <p:nvPr/>
        </p:nvSpPr>
        <p:spPr>
          <a:xfrm>
            <a:off x="1298448" y="1298448"/>
            <a:ext cx="3566160" cy="82296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Grow</a:t>
            </a:r>
            <a:endParaRPr lang="en-US" sz="1400" dirty="0"/>
          </a:p>
          <a:p>
            <a:pPr indent="0" marL="0">
              <a:spcAft>
                <a:spcPts val="400"/>
              </a:spcAft>
              <a:buNone/>
            </a:pPr>
            <a:r>
              <a:rPr lang="en-US" sz="1300" dirty="0">
                <a:solidFill>
                  <a:schemeClr val="tx1"/>
                </a:solidFill>
              </a:rPr>
              <a:t>Particles collide and stick, helped by sticky biological 'glue' from algae. Calm water lets flocs grow.</a:t>
            </a:r>
            <a:endParaRPr lang="en-US" sz="1400" dirty="0"/>
          </a:p>
        </p:txBody>
      </p:sp>
      <p:sp>
        <p:nvSpPr>
          <p:cNvPr id="6" name="Theory card 2"/>
          <p:cNvSpPr/>
          <p:nvPr/>
        </p:nvSpPr>
        <p:spPr>
          <a:xfrm>
            <a:off x="457200" y="2304288"/>
            <a:ext cx="4572000" cy="987552"/>
          </a:xfrm>
          <a:prstGeom prst="roundRect">
            <a:avLst>
              <a:gd name="adj" fmla="val 7407"/>
            </a:avLst>
          </a:prstGeom>
          <a:solidFill>
            <a:schemeClr val="bg1"/>
          </a:solidFill>
          <a:ln w="12700">
            <a:solidFill>
              <a:srgbClr val="D3DDE0"/>
            </a:solidFill>
            <a:prstDash val="solid"/>
          </a:ln>
        </p:spPr>
      </p:sp>
      <p:sp>
        <p:nvSpPr>
          <p:cNvPr id="7" name="Theory dot 2"/>
          <p:cNvSpPr/>
          <p:nvPr/>
        </p:nvSpPr>
        <p:spPr>
          <a:xfrm>
            <a:off x="658368" y="2578608"/>
            <a:ext cx="438912" cy="438912"/>
          </a:xfrm>
          <a:prstGeom prst="ellipse">
            <a:avLst/>
          </a:prstGeom>
          <a:solidFill>
            <a:schemeClr val="accent6"/>
          </a:solidFill>
          <a:ln w="12700">
            <a:solidFill>
              <a:schemeClr val="accent6"/>
            </a:solidFill>
            <a:prstDash val="solid"/>
          </a:ln>
        </p:spPr>
      </p:sp>
      <p:sp>
        <p:nvSpPr>
          <p:cNvPr id="8" name="Text 6"/>
          <p:cNvSpPr txBox="1"/>
          <p:nvPr/>
        </p:nvSpPr>
        <p:spPr>
          <a:xfrm>
            <a:off x="1298448" y="2414016"/>
            <a:ext cx="3566160" cy="82296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Break</a:t>
            </a:r>
            <a:endParaRPr lang="en-US" sz="1400" dirty="0"/>
          </a:p>
          <a:p>
            <a:pPr indent="0" marL="0">
              <a:spcAft>
                <a:spcPts val="400"/>
              </a:spcAft>
              <a:buNone/>
            </a:pPr>
            <a:r>
              <a:rPr lang="en-US" sz="1300" dirty="0">
                <a:solidFill>
                  <a:schemeClr val="tx1"/>
                </a:solidFill>
              </a:rPr>
              <a:t>Wave motion near the bed shears flocs apart. Stronger waves mean smaller flocs.</a:t>
            </a:r>
            <a:endParaRPr lang="en-US" sz="1400" dirty="0"/>
          </a:p>
        </p:txBody>
      </p:sp>
      <p:sp>
        <p:nvSpPr>
          <p:cNvPr id="9" name="Theory card 3"/>
          <p:cNvSpPr/>
          <p:nvPr/>
        </p:nvSpPr>
        <p:spPr>
          <a:xfrm>
            <a:off x="457200" y="3419856"/>
            <a:ext cx="4572000" cy="987552"/>
          </a:xfrm>
          <a:prstGeom prst="roundRect">
            <a:avLst>
              <a:gd name="adj" fmla="val 7407"/>
            </a:avLst>
          </a:prstGeom>
          <a:solidFill>
            <a:schemeClr val="bg1"/>
          </a:solidFill>
          <a:ln w="12700">
            <a:solidFill>
              <a:srgbClr val="D3DDE0"/>
            </a:solidFill>
            <a:prstDash val="solid"/>
          </a:ln>
        </p:spPr>
      </p:sp>
      <p:sp>
        <p:nvSpPr>
          <p:cNvPr id="10" name="Theory dot 3"/>
          <p:cNvSpPr/>
          <p:nvPr/>
        </p:nvSpPr>
        <p:spPr>
          <a:xfrm>
            <a:off x="658368" y="3694176"/>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1298448" y="3529584"/>
            <a:ext cx="3566160" cy="82296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Arrive</a:t>
            </a:r>
            <a:endParaRPr lang="en-US" sz="1400" dirty="0"/>
          </a:p>
          <a:p>
            <a:pPr indent="0" marL="0">
              <a:spcAft>
                <a:spcPts val="400"/>
              </a:spcAft>
              <a:buNone/>
            </a:pPr>
            <a:r>
              <a:rPr lang="en-US" sz="1300" dirty="0">
                <a:solidFill>
                  <a:schemeClr val="tx1"/>
                </a:solidFill>
              </a:rPr>
              <a:t>The tide carries flocs formed elsewhere. Here, water from upstream arrives about 4 hours later.</a:t>
            </a:r>
            <a:endParaRPr lang="en-US" sz="1400" dirty="0"/>
          </a:p>
        </p:txBody>
      </p:sp>
      <p:sp>
        <p:nvSpPr>
          <p:cNvPr id="12" name="Stokes card"/>
          <p:cNvSpPr/>
          <p:nvPr/>
        </p:nvSpPr>
        <p:spPr>
          <a:xfrm>
            <a:off x="5303520" y="1188720"/>
            <a:ext cx="3383280" cy="3236976"/>
          </a:xfrm>
          <a:prstGeom prst="roundRect">
            <a:avLst>
              <a:gd name="adj" fmla="val 2260"/>
            </a:avLst>
          </a:prstGeom>
          <a:solidFill>
            <a:schemeClr val="bg1"/>
          </a:solidFill>
          <a:ln w="12700">
            <a:solidFill>
              <a:srgbClr val="D3DDE0"/>
            </a:solidFill>
            <a:prstDash val="solid"/>
          </a:ln>
        </p:spPr>
      </p:sp>
      <p:sp>
        <p:nvSpPr>
          <p:cNvPr id="13" name="Text 11"/>
          <p:cNvSpPr txBox="1"/>
          <p:nvPr/>
        </p:nvSpPr>
        <p:spPr>
          <a:xfrm>
            <a:off x="5532120" y="1371600"/>
            <a:ext cx="3017520" cy="36576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Settling speed (Stokes law)</a:t>
            </a:r>
            <a:endParaRPr lang="en-US" sz="1400" dirty="0"/>
          </a:p>
        </p:txBody>
      </p:sp>
      <p:sp>
        <p:nvSpPr>
          <p:cNvPr id="14" name="Text 12"/>
          <p:cNvSpPr txBox="1"/>
          <p:nvPr/>
        </p:nvSpPr>
        <p:spPr>
          <a:xfrm>
            <a:off x="5532120" y="1828800"/>
            <a:ext cx="3017520" cy="502920"/>
          </a:xfrm>
          <a:prstGeom prst="rect">
            <a:avLst/>
          </a:prstGeom>
          <a:noFill/>
          <a:ln/>
        </p:spPr>
        <p:txBody>
          <a:bodyPr wrap="square" lIns="0" tIns="0" rIns="0" bIns="0" rtlCol="0" anchor="t"/>
          <a:lstStyle/>
          <a:p>
            <a:pPr indent="0" marL="0">
              <a:spcAft>
                <a:spcPts val="400"/>
              </a:spcAft>
              <a:buNone/>
            </a:pPr>
            <a:r>
              <a:rPr lang="en-US" sz="2200" dirty="0">
                <a:solidFill>
                  <a:schemeClr val="tx2"/>
                </a:solidFill>
                <a:latin typeface="Cambria" pitchFamily="34" charset="0"/>
                <a:ea typeface="Cambria" pitchFamily="34" charset="-122"/>
                <a:cs typeface="Cambria" pitchFamily="34" charset="-120"/>
              </a:rPr>
              <a:t>w</a:t>
            </a:r>
            <a:pPr indent="0" marL="0">
              <a:spcAft>
                <a:spcPts val="400"/>
              </a:spcAft>
              <a:buNone/>
            </a:pPr>
            <a:r>
              <a:rPr lang="en-US" sz="2200" baseline="-40000" dirty="0">
                <a:solidFill>
                  <a:schemeClr val="tx2"/>
                </a:solidFill>
                <a:latin typeface="Cambria" pitchFamily="34" charset="0"/>
                <a:ea typeface="Cambria" pitchFamily="34" charset="-122"/>
                <a:cs typeface="Cambria" pitchFamily="34" charset="-120"/>
              </a:rPr>
              <a:t>s</a:t>
            </a:r>
            <a:pPr indent="0" marL="0">
              <a:spcAft>
                <a:spcPts val="400"/>
              </a:spcAft>
              <a:buNone/>
            </a:pPr>
            <a:r>
              <a:rPr lang="en-US" sz="2200" dirty="0">
                <a:solidFill>
                  <a:schemeClr val="tx2"/>
                </a:solidFill>
                <a:latin typeface="Cambria" pitchFamily="34" charset="0"/>
                <a:ea typeface="Cambria" pitchFamily="34" charset="-122"/>
                <a:cs typeface="Cambria" pitchFamily="34" charset="-120"/>
              </a:rPr>
              <a:t> = (ρ</a:t>
            </a:r>
            <a:pPr indent="0" marL="0">
              <a:spcAft>
                <a:spcPts val="400"/>
              </a:spcAft>
              <a:buNone/>
            </a:pPr>
            <a:r>
              <a:rPr lang="en-US" sz="2200" baseline="-40000" dirty="0">
                <a:solidFill>
                  <a:schemeClr val="tx2"/>
                </a:solidFill>
                <a:latin typeface="Cambria" pitchFamily="34" charset="0"/>
                <a:ea typeface="Cambria" pitchFamily="34" charset="-122"/>
                <a:cs typeface="Cambria" pitchFamily="34" charset="-120"/>
              </a:rPr>
              <a:t>f</a:t>
            </a:r>
            <a:pPr indent="0" marL="0">
              <a:spcAft>
                <a:spcPts val="400"/>
              </a:spcAft>
              <a:buNone/>
            </a:pPr>
            <a:r>
              <a:rPr lang="en-US" sz="2200" dirty="0">
                <a:solidFill>
                  <a:schemeClr val="tx2"/>
                </a:solidFill>
                <a:latin typeface="Cambria" pitchFamily="34" charset="0"/>
                <a:ea typeface="Cambria" pitchFamily="34" charset="-122"/>
                <a:cs typeface="Cambria" pitchFamily="34" charset="-120"/>
              </a:rPr>
              <a:t> - ρ</a:t>
            </a:r>
            <a:pPr indent="0" marL="0">
              <a:spcAft>
                <a:spcPts val="400"/>
              </a:spcAft>
              <a:buNone/>
            </a:pPr>
            <a:r>
              <a:rPr lang="en-US" sz="2200" baseline="-40000" dirty="0">
                <a:solidFill>
                  <a:schemeClr val="tx2"/>
                </a:solidFill>
                <a:latin typeface="Cambria" pitchFamily="34" charset="0"/>
                <a:ea typeface="Cambria" pitchFamily="34" charset="-122"/>
                <a:cs typeface="Cambria" pitchFamily="34" charset="-120"/>
              </a:rPr>
              <a:t>0</a:t>
            </a:r>
            <a:pPr indent="0" marL="0">
              <a:spcAft>
                <a:spcPts val="400"/>
              </a:spcAft>
              <a:buNone/>
            </a:pPr>
            <a:r>
              <a:rPr lang="en-US" sz="2200" dirty="0">
                <a:solidFill>
                  <a:schemeClr val="tx2"/>
                </a:solidFill>
                <a:latin typeface="Cambria" pitchFamily="34" charset="0"/>
                <a:ea typeface="Cambria" pitchFamily="34" charset="-122"/>
                <a:cs typeface="Cambria" pitchFamily="34" charset="-120"/>
              </a:rPr>
              <a:t>) g d</a:t>
            </a:r>
            <a:pPr indent="0" marL="0">
              <a:spcAft>
                <a:spcPts val="400"/>
              </a:spcAft>
              <a:buNone/>
            </a:pPr>
            <a:r>
              <a:rPr lang="en-US" sz="2200" baseline="30000" dirty="0">
                <a:solidFill>
                  <a:schemeClr val="tx2"/>
                </a:solidFill>
                <a:latin typeface="Cambria" pitchFamily="34" charset="0"/>
                <a:ea typeface="Cambria" pitchFamily="34" charset="-122"/>
                <a:cs typeface="Cambria" pitchFamily="34" charset="-120"/>
              </a:rPr>
              <a:t>2</a:t>
            </a:r>
            <a:pPr indent="0" marL="0">
              <a:spcAft>
                <a:spcPts val="400"/>
              </a:spcAft>
              <a:buNone/>
            </a:pPr>
            <a:r>
              <a:rPr lang="en-US" sz="2200" dirty="0">
                <a:solidFill>
                  <a:schemeClr val="tx2"/>
                </a:solidFill>
                <a:latin typeface="Cambria" pitchFamily="34" charset="0"/>
                <a:ea typeface="Cambria" pitchFamily="34" charset="-122"/>
                <a:cs typeface="Cambria" pitchFamily="34" charset="-120"/>
              </a:rPr>
              <a:t> / 18μ</a:t>
            </a:r>
            <a:endParaRPr lang="en-US" sz="1400" dirty="0"/>
          </a:p>
        </p:txBody>
      </p:sp>
      <p:sp>
        <p:nvSpPr>
          <p:cNvPr id="15" name="Text 13"/>
          <p:cNvSpPr txBox="1"/>
          <p:nvPr/>
        </p:nvSpPr>
        <p:spPr>
          <a:xfrm>
            <a:off x="5532120" y="2514600"/>
            <a:ext cx="3017520" cy="173736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d: floc diameter (what we predict)</a:t>
            </a:r>
            <a:endParaRPr lang="en-US" sz="1400" dirty="0"/>
          </a:p>
          <a:p>
            <a:pPr marL="177800" indent="-177800">
              <a:spcAft>
                <a:spcPts val="600"/>
              </a:spcAft>
              <a:buSzPct val="100000"/>
              <a:buChar char="•"/>
            </a:pPr>
            <a:r>
              <a:rPr lang="en-US" sz="1200" dirty="0">
                <a:solidFill>
                  <a:schemeClr val="tx1"/>
                </a:solidFill>
              </a:rPr>
              <a:t>ρf, ρ0: floc and water density</a:t>
            </a:r>
            <a:endParaRPr lang="en-US" sz="1400" dirty="0"/>
          </a:p>
          <a:p>
            <a:pPr marL="177800" indent="-177800">
              <a:spcAft>
                <a:spcPts val="600"/>
              </a:spcAft>
              <a:buSzPct val="100000"/>
              <a:buChar char="•"/>
            </a:pPr>
            <a:r>
              <a:rPr lang="en-US" sz="1200" dirty="0">
                <a:solidFill>
                  <a:schemeClr val="tx1"/>
                </a:solidFill>
              </a:rPr>
              <a:t>g: gravity,  μ: water viscosity</a:t>
            </a:r>
            <a:endParaRPr lang="en-US" sz="1400" dirty="0"/>
          </a:p>
          <a:p>
            <a:pPr marL="177800" indent="-177800">
              <a:spcAft>
                <a:spcPts val="600"/>
              </a:spcAft>
              <a:buSzPct val="100000"/>
              <a:buChar char="•"/>
            </a:pPr>
            <a:r>
              <a:rPr lang="en-US" sz="1200" dirty="0">
                <a:solidFill>
                  <a:schemeClr val="tx1"/>
                </a:solidFill>
              </a:rPr>
              <a:t>Double d and the floc sinks about 4x faster</a:t>
            </a:r>
            <a:endParaRPr lang="en-US" sz="1400" dirty="0"/>
          </a:p>
        </p:txBody>
      </p:sp>
      <p:sp>
        <p:nvSpPr>
          <p:cNvPr id="16" name="Text 14"/>
          <p:cNvSpPr txBox="1"/>
          <p:nvPr/>
        </p:nvSpPr>
        <p:spPr>
          <a:xfrm>
            <a:off x="457200" y="4526280"/>
            <a:ext cx="7589520" cy="320040"/>
          </a:xfrm>
          <a:prstGeom prst="rect">
            <a:avLst/>
          </a:prstGeom>
          <a:noFill/>
          <a:ln/>
        </p:spPr>
        <p:txBody>
          <a:bodyPr wrap="square" lIns="0" tIns="0" rIns="0" bIns="0" rtlCol="0" anchor="t"/>
          <a:lstStyle/>
          <a:p>
            <a:pPr indent="0" marL="0">
              <a:spcAft>
                <a:spcPts val="400"/>
              </a:spcAft>
              <a:buNone/>
            </a:pPr>
            <a:r>
              <a:rPr lang="en-US" sz="1200" i="1" dirty="0">
                <a:solidFill>
                  <a:srgbClr val="5E6B72"/>
                </a:solidFill>
              </a:rPr>
              <a:t>What theory predicts: strong waves give smaller flocs; strong tide 4 hours earlier brings larger ones.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The data: Stanford Digital Repository</a:t>
            </a:r>
            <a:endParaRPr lang="en-US" sz="3000" dirty="0"/>
          </a:p>
        </p:txBody>
      </p:sp>
      <p:sp>
        <p:nvSpPr>
          <p:cNvPr id="3" name="Text 1"/>
          <p:cNvSpPr txBox="1"/>
          <p:nvPr/>
        </p:nvSpPr>
        <p:spPr>
          <a:xfrm>
            <a:off x="457200" y="1188720"/>
            <a:ext cx="3566160" cy="32918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NSF OCE-1736668 field campaign on the shallow shoals (about 2 m deep) of South San Francisco Bay</a:t>
            </a:r>
            <a:endParaRPr lang="en-US" sz="1400" dirty="0"/>
          </a:p>
          <a:p>
            <a:pPr marL="177800" indent="-177800">
              <a:spcAft>
                <a:spcPts val="600"/>
              </a:spcAft>
              <a:buSzPct val="100000"/>
              <a:buChar char="•"/>
            </a:pPr>
            <a:r>
              <a:rPr lang="en-US" sz="1400" dirty="0">
                <a:solidFill>
                  <a:schemeClr val="tx1"/>
                </a:solidFill>
              </a:rPr>
              <a:t>Three deployments of about four weeks: Summer 2018, Winter 2019, Spring 2019</a:t>
            </a:r>
            <a:endParaRPr lang="en-US" sz="1400" dirty="0"/>
          </a:p>
          <a:p>
            <a:pPr marL="177800" indent="-177800">
              <a:spcAft>
                <a:spcPts val="600"/>
              </a:spcAft>
              <a:buSzPct val="100000"/>
              <a:buChar char="•"/>
            </a:pPr>
            <a:r>
              <a:rPr lang="en-US" sz="1400" dirty="0">
                <a:solidFill>
                  <a:schemeClr val="tx1"/>
                </a:solidFill>
              </a:rPr>
              <a:t>2.5 GB public archive; we used the laser sizer, the CTD and the 15 cm current meter at platform P2</a:t>
            </a:r>
            <a:endParaRPr lang="en-US" sz="1400" dirty="0"/>
          </a:p>
          <a:p>
            <a:pPr marL="177800" indent="-177800">
              <a:spcAft>
                <a:spcPts val="600"/>
              </a:spcAft>
              <a:buSzPct val="100000"/>
              <a:buChar char="•"/>
            </a:pPr>
            <a:r>
              <a:rPr lang="en-US" sz="1400" dirty="0">
                <a:solidFill>
                  <a:schemeClr val="tx1"/>
                </a:solidFill>
              </a:rPr>
              <a:t>After cleaning: 1,120 hourly samples (Summer 427, Winter 406, Spring 287)</a:t>
            </a:r>
            <a:endParaRPr lang="en-US" sz="1400" dirty="0"/>
          </a:p>
        </p:txBody>
      </p:sp>
      <p:graphicFrame>
        <p:nvGraphicFramePr>
          <p:cNvPr id="6" name="Instrument table"/>
          <p:cNvGraphicFramePr>
            <a:graphicFrameLocks noGrp="1"/>
          </p:cNvGraphicFramePr>
          <p:nvPr>
            <p:extLst>
              <p:ext uri="{D42A27DB-BD31-4B8C-83A1-F6EECF244321}">
                <p14:modId xmlns:p14="http://schemas.microsoft.com/office/powerpoint/2010/main" val="1579011935"/>
              </p:ext>
            </p:extLst>
          </p:nvPr>
        </p:nvGraphicFramePr>
        <p:xfrm>
          <a:off x="4297680" y="1234440"/>
          <a:ext cx="4389120" cy="914400"/>
        </p:xfrm>
        <a:graphic>
          <a:graphicData uri="http://schemas.openxmlformats.org/drawingml/2006/table">
            <a:tbl>
              <a:tblPr/>
              <a:tblGrid>
                <a:gridCol w="1417320"/>
                <a:gridCol w="1783080"/>
                <a:gridCol w="1188720"/>
              </a:tblGrid>
              <a:tr h="0">
                <a:tc>
                  <a:txBody>
                    <a:bodyPr/>
                    <a:lstStyle/>
                    <a:p>
                      <a:pPr indent="0" marL="0">
                        <a:buNone/>
                      </a:pPr>
                      <a:r>
                        <a:rPr lang="en-US" sz="1200" b="1" dirty="0">
                          <a:solidFill>
                            <a:schemeClr val="bg1"/>
                          </a:solidFill>
                        </a:rPr>
                        <a:t>Instrument</a:t>
                      </a:r>
                      <a:endParaRPr lang="en-US" sz="1200" dirty="0"/>
                    </a:p>
                  </a:txBody>
                  <a:tcPr marL="54864" marR="54864" marT="54864" marB="54864"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it measures</a:t>
                      </a:r>
                      <a:endParaRPr lang="en-US" sz="1200" dirty="0"/>
                    </a:p>
                  </a:txBody>
                  <a:tcPr marL="54864" marR="54864" marT="54864" marB="54864"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How often</a:t>
                      </a:r>
                      <a:endParaRPr lang="en-US" sz="1200" dirty="0"/>
                    </a:p>
                  </a:txBody>
                  <a:tcPr marL="54864" marR="54864" marT="54864" marB="54864"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LISST laser sizer, 35 cm above bed</a:t>
                      </a:r>
                      <a:endParaRPr lang="en-US" sz="1200" dirty="0"/>
                    </a:p>
                  </a:txBody>
                  <a:tcPr marL="54864" marR="54864" marT="54864" marB="54864"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Particle size distribution: our target d</a:t>
                      </a:r>
                      <a:endParaRPr lang="en-US" sz="1200" dirty="0"/>
                    </a:p>
                  </a:txBody>
                  <a:tcPr marL="54864" marR="54864" marT="54864" marB="54864"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Every 60 s</a:t>
                      </a:r>
                      <a:endParaRPr lang="en-US" sz="1200" dirty="0"/>
                    </a:p>
                  </a:txBody>
                  <a:tcPr marL="54864" marR="54864" marT="54864" marB="54864"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r>
              <a:tr h="0">
                <a:tc>
                  <a:txBody>
                    <a:bodyPr/>
                    <a:lstStyle/>
                    <a:p>
                      <a:pPr indent="0" marL="0">
                        <a:buNone/>
                      </a:pPr>
                      <a:r>
                        <a:rPr lang="en-US" sz="1200" dirty="0">
                          <a:solidFill>
                            <a:schemeClr val="tx1"/>
                          </a:solidFill>
                        </a:rPr>
                        <a:t>ADV acoustic current meter, 15 cm</a:t>
                      </a:r>
                      <a:endParaRPr lang="en-US" sz="1200" dirty="0"/>
                    </a:p>
                  </a:txBody>
                  <a:tcPr marL="54864" marR="54864" marT="54864" marB="54864"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3D velocity and pressure: waves, tide, turbulence</a:t>
                      </a:r>
                      <a:endParaRPr lang="en-US" sz="1200" dirty="0"/>
                    </a:p>
                  </a:txBody>
                  <a:tcPr marL="54864" marR="54864" marT="54864" marB="54864"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8 per second, 14 min each hour</a:t>
                      </a:r>
                      <a:endParaRPr lang="en-US" sz="1200" dirty="0"/>
                    </a:p>
                  </a:txBody>
                  <a:tcPr marL="54864" marR="54864" marT="54864" marB="54864"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r>
              <a:tr h="0">
                <a:tc>
                  <a:txBody>
                    <a:bodyPr/>
                    <a:lstStyle/>
                    <a:p>
                      <a:pPr indent="0" marL="0">
                        <a:buNone/>
                      </a:pPr>
                      <a:r>
                        <a:rPr lang="en-US" sz="1200" dirty="0">
                          <a:solidFill>
                            <a:schemeClr val="tx1"/>
                          </a:solidFill>
                        </a:rPr>
                        <a:t>CTD sensor</a:t>
                      </a:r>
                      <a:endParaRPr lang="en-US" sz="1200" dirty="0"/>
                    </a:p>
                  </a:txBody>
                  <a:tcPr marL="54864" marR="54864" marT="54864" marB="54864"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Temperature and salinity</a:t>
                      </a:r>
                      <a:endParaRPr lang="en-US" sz="1200" dirty="0"/>
                    </a:p>
                  </a:txBody>
                  <a:tcPr marL="54864" marR="54864" marT="54864" marB="54864"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Every 60 s</a:t>
                      </a:r>
                      <a:endParaRPr lang="en-US" sz="1200" dirty="0"/>
                    </a:p>
                  </a:txBody>
                  <a:tcPr marL="54864" marR="54864" marT="54864" marB="54864"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r>
            </a:tbl>
          </a:graphicData>
        </a:graphic>
      </p:graphicFrame>
      <p:sp>
        <p:nvSpPr>
          <p:cNvPr id="5" name="Text 2"/>
          <p:cNvSpPr txBox="1"/>
          <p:nvPr/>
        </p:nvSpPr>
        <p:spPr>
          <a:xfrm>
            <a:off x="4297680" y="3977640"/>
            <a:ext cx="4389120" cy="548640"/>
          </a:xfrm>
          <a:prstGeom prst="rect">
            <a:avLst/>
          </a:prstGeom>
          <a:noFill/>
          <a:ln/>
        </p:spPr>
        <p:txBody>
          <a:bodyPr wrap="square" lIns="0" tIns="0" rIns="0" bIns="0" rtlCol="0" anchor="t"/>
          <a:lstStyle/>
          <a:p>
            <a:pPr indent="0" marL="0">
              <a:spcAft>
                <a:spcPts val="400"/>
              </a:spcAft>
              <a:buNone/>
            </a:pPr>
            <a:r>
              <a:rPr lang="en-US" sz="1200" i="1" dirty="0">
                <a:solidFill>
                  <a:srgbClr val="5E6B72"/>
                </a:solidFill>
              </a:rPr>
              <a:t>Not in the archive: chlorophyll and light-absorption (biology) sensors used by both papers.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From raw signals to a feature table</a:t>
            </a:r>
            <a:endParaRPr lang="en-US" sz="3000" dirty="0"/>
          </a:p>
        </p:txBody>
      </p:sp>
      <p:sp>
        <p:nvSpPr>
          <p:cNvPr id="3" name="Target card"/>
          <p:cNvSpPr/>
          <p:nvPr/>
        </p:nvSpPr>
        <p:spPr>
          <a:xfrm>
            <a:off x="457200" y="1188720"/>
            <a:ext cx="3017520" cy="3291840"/>
          </a:xfrm>
          <a:prstGeom prst="roundRect">
            <a:avLst>
              <a:gd name="adj" fmla="val 2424"/>
            </a:avLst>
          </a:prstGeom>
          <a:solidFill>
            <a:schemeClr val="bg1"/>
          </a:solidFill>
          <a:ln w="12700">
            <a:solidFill>
              <a:srgbClr val="D3DDE0"/>
            </a:solidFill>
            <a:prstDash val="solid"/>
          </a:ln>
        </p:spPr>
      </p:sp>
      <p:sp>
        <p:nvSpPr>
          <p:cNvPr id="4" name="Text 2"/>
          <p:cNvSpPr txBox="1"/>
          <p:nvPr/>
        </p:nvSpPr>
        <p:spPr>
          <a:xfrm>
            <a:off x="658368" y="1325880"/>
            <a:ext cx="2651760" cy="36576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Target: floc size d</a:t>
            </a:r>
            <a:endParaRPr lang="en-US" sz="1400" dirty="0"/>
          </a:p>
        </p:txBody>
      </p:sp>
      <p:sp>
        <p:nvSpPr>
          <p:cNvPr id="5" name="Text 3"/>
          <p:cNvSpPr txBox="1"/>
          <p:nvPr/>
        </p:nvSpPr>
        <p:spPr>
          <a:xfrm>
            <a:off x="658368" y="1737360"/>
            <a:ext cx="2651760" cy="26517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Average the 1-minute laser readings over each 14-minute burst</a:t>
            </a:r>
            <a:endParaRPr lang="en-US" sz="1400" dirty="0"/>
          </a:p>
          <a:p>
            <a:pPr marL="177800" indent="-177800">
              <a:spcAft>
                <a:spcPts val="600"/>
              </a:spcAft>
              <a:buSzPct val="100000"/>
              <a:buChar char="•"/>
            </a:pPr>
            <a:r>
              <a:rPr lang="en-US" sz="1300" dirty="0">
                <a:solidFill>
                  <a:schemeClr val="tx1"/>
                </a:solidFill>
              </a:rPr>
              <a:t>Drop readings where the optics are saturated</a:t>
            </a:r>
            <a:endParaRPr lang="en-US" sz="1400" dirty="0"/>
          </a:p>
          <a:p>
            <a:pPr marL="177800" indent="-177800">
              <a:spcAft>
                <a:spcPts val="600"/>
              </a:spcAft>
              <a:buSzPct val="100000"/>
              <a:buChar char="•"/>
            </a:pPr>
            <a:r>
              <a:rPr lang="en-US" sz="1300" dirty="0">
                <a:solidFill>
                  <a:schemeClr val="tx1"/>
                </a:solidFill>
              </a:rPr>
              <a:t>Remove isolated spikes at the size extremes (paper's 40% rule)</a:t>
            </a:r>
            <a:endParaRPr lang="en-US" sz="1400" dirty="0"/>
          </a:p>
          <a:p>
            <a:pPr marL="177800" indent="-177800">
              <a:spcAft>
                <a:spcPts val="600"/>
              </a:spcAft>
              <a:buSzPct val="100000"/>
              <a:buChar char="•"/>
            </a:pPr>
            <a:r>
              <a:rPr lang="en-US" sz="1300" dirty="0">
                <a:solidFill>
                  <a:schemeClr val="tx1"/>
                </a:solidFill>
              </a:rPr>
              <a:t>Take the volume-weighted mean diameter</a:t>
            </a:r>
            <a:endParaRPr lang="en-US" sz="1400" dirty="0"/>
          </a:p>
        </p:txBody>
      </p:sp>
      <p:graphicFrame>
        <p:nvGraphicFramePr>
          <p:cNvPr id="7" name="Feature table"/>
          <p:cNvGraphicFramePr>
            <a:graphicFrameLocks noGrp="1"/>
          </p:cNvGraphicFramePr>
          <p:nvPr>
            <p:extLst>
              <p:ext uri="{D42A27DB-BD31-4B8C-83A1-F6EECF244321}">
                <p14:modId xmlns:p14="http://schemas.microsoft.com/office/powerpoint/2010/main" val="1579011935"/>
              </p:ext>
            </p:extLst>
          </p:nvPr>
        </p:nvGraphicFramePr>
        <p:xfrm>
          <a:off x="3749040" y="1188720"/>
          <a:ext cx="4937760" cy="914400"/>
        </p:xfrm>
        <a:graphic>
          <a:graphicData uri="http://schemas.openxmlformats.org/drawingml/2006/table">
            <a:tbl>
              <a:tblPr/>
              <a:tblGrid>
                <a:gridCol w="1508760"/>
                <a:gridCol w="2194560"/>
                <a:gridCol w="1234440"/>
              </a:tblGrid>
              <a:tr h="0">
                <a:tc>
                  <a:txBody>
                    <a:bodyPr/>
                    <a:lstStyle/>
                    <a:p>
                      <a:pPr indent="0" marL="0">
                        <a:buNone/>
                      </a:pPr>
                      <a:r>
                        <a:rPr lang="en-US" sz="1200" b="1" dirty="0">
                          <a:solidFill>
                            <a:schemeClr val="bg1"/>
                          </a:solidFill>
                        </a:rPr>
                        <a:t>Feature</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Plain meaning</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Expected effect</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solidFill>
                      <a:schemeClr val="tx2"/>
                    </a:solidFill>
                  </a:tcPr>
                </a:tc>
              </a:tr>
              <a:tr h="0">
                <a:tc>
                  <a:txBody>
                    <a:bodyPr/>
                    <a:lstStyle/>
                    <a:p>
                      <a:pPr indent="0" marL="0">
                        <a:buNone/>
                      </a:pPr>
                      <a:r>
                        <a:rPr lang="en-US" sz="1200" b="1" dirty="0">
                          <a:solidFill>
                            <a:schemeClr val="tx1"/>
                          </a:solidFill>
                        </a:rPr>
                        <a:t>u_b  wave velocity</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How hard waves shake the water at the bed</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Smaller flocs</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r>
              <a:tr h="0">
                <a:tc>
                  <a:txBody>
                    <a:bodyPr/>
                    <a:lstStyle/>
                    <a:p>
                      <a:pPr indent="0" marL="0">
                        <a:buNone/>
                      </a:pPr>
                      <a:r>
                        <a:rPr lang="en-US" sz="1200" b="1" dirty="0">
                          <a:solidFill>
                            <a:schemeClr val="tx1"/>
                          </a:solidFill>
                        </a:rPr>
                        <a:t>ū  tidal current</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Flood (+) or ebb (-) tide now</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Weak</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r>
              <a:tr h="0">
                <a:tc>
                  <a:txBody>
                    <a:bodyPr/>
                    <a:lstStyle/>
                    <a:p>
                      <a:pPr indent="0" marL="0">
                        <a:buNone/>
                      </a:pPr>
                      <a:r>
                        <a:rPr lang="en-US" sz="1200" b="1" dirty="0">
                          <a:solidFill>
                            <a:schemeClr val="tx1"/>
                          </a:solidFill>
                        </a:rPr>
                        <a:t>ū₄  current 4 h ago</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Water arriving from upstream</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Larger flocs</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r>
              <a:tr h="0">
                <a:tc>
                  <a:txBody>
                    <a:bodyPr/>
                    <a:lstStyle/>
                    <a:p>
                      <a:pPr indent="0" marL="0">
                        <a:buNone/>
                      </a:pPr>
                      <a:r>
                        <a:rPr lang="en-US" sz="1200" b="1" dirty="0">
                          <a:solidFill>
                            <a:schemeClr val="tx1"/>
                          </a:solidFill>
                        </a:rPr>
                        <a:t>ε  turbulence</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Small-scale stirring</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Breakup</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r>
              <a:tr h="0">
                <a:tc>
                  <a:txBody>
                    <a:bodyPr/>
                    <a:lstStyle/>
                    <a:p>
                      <a:pPr indent="0" marL="0">
                        <a:buNone/>
                      </a:pPr>
                      <a:r>
                        <a:rPr lang="en-US" sz="1200" b="1" dirty="0">
                          <a:solidFill>
                            <a:schemeClr val="tx1"/>
                          </a:solidFill>
                        </a:rPr>
                        <a:t>T  temperature</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Season; proxy for biology</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Spring growth</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r>
              <a:tr h="0">
                <a:tc>
                  <a:txBody>
                    <a:bodyPr/>
                    <a:lstStyle/>
                    <a:p>
                      <a:pPr indent="0" marL="0">
                        <a:buNone/>
                      </a:pPr>
                      <a:r>
                        <a:rPr lang="en-US" sz="1200" b="1" dirty="0">
                          <a:solidFill>
                            <a:schemeClr val="tx1"/>
                          </a:solidFill>
                        </a:rPr>
                        <a:t>S  salinity</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Season; river inflow</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Weak</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r>
            </a:tbl>
          </a:graphicData>
        </a:graphic>
      </p:graphicFrame>
      <p:sp>
        <p:nvSpPr>
          <p:cNvPr id="7" name="Text 4"/>
          <p:cNvSpPr txBox="1"/>
          <p:nvPr/>
        </p:nvSpPr>
        <p:spPr>
          <a:xfrm>
            <a:off x="3749040" y="4114800"/>
            <a:ext cx="4937760" cy="411480"/>
          </a:xfrm>
          <a:prstGeom prst="rect">
            <a:avLst/>
          </a:prstGeom>
          <a:noFill/>
          <a:ln/>
        </p:spPr>
        <p:txBody>
          <a:bodyPr wrap="square" lIns="0" tIns="0" rIns="0" bIns="0" rtlCol="0" anchor="t"/>
          <a:lstStyle/>
          <a:p>
            <a:pPr indent="0" marL="0">
              <a:spcAft>
                <a:spcPts val="400"/>
              </a:spcAft>
              <a:buNone/>
            </a:pPr>
            <a:r>
              <a:rPr lang="en-US" sz="1200" i="1" dirty="0">
                <a:solidFill>
                  <a:srgbClr val="5E6B72"/>
                </a:solidFill>
              </a:rPr>
              <a:t>Quality control: bursts with more than 10% bad current samples are dropped. Gaps are never filled.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Workflow and code structure</a:t>
            </a:r>
            <a:endParaRPr lang="en-US" sz="3000" dirty="0"/>
          </a:p>
        </p:txBody>
      </p:sp>
      <p:sp>
        <p:nvSpPr>
          <p:cNvPr id="3" name="Step 1"/>
          <p:cNvSpPr/>
          <p:nvPr/>
        </p:nvSpPr>
        <p:spPr>
          <a:xfrm>
            <a:off x="457200" y="1325880"/>
            <a:ext cx="1207008" cy="1143000"/>
          </a:xfrm>
          <a:prstGeom prst="roundRect">
            <a:avLst>
              <a:gd name="adj" fmla="val 6400"/>
            </a:avLst>
          </a:prstGeom>
          <a:solidFill>
            <a:schemeClr val="bg1"/>
          </a:solidFill>
          <a:ln w="12700">
            <a:solidFill>
              <a:srgbClr val="D3DDE0"/>
            </a:solidFill>
            <a:prstDash val="solid"/>
          </a:ln>
        </p:spPr>
      </p:sp>
      <p:sp>
        <p:nvSpPr>
          <p:cNvPr id="4" name="Step badge 1"/>
          <p:cNvSpPr/>
          <p:nvPr/>
        </p:nvSpPr>
        <p:spPr>
          <a:xfrm>
            <a:off x="868680" y="1143000"/>
            <a:ext cx="384048" cy="384048"/>
          </a:xfrm>
          <a:prstGeom prst="ellipse">
            <a:avLst/>
          </a:prstGeom>
          <a:solidFill>
            <a:schemeClr val="accent1"/>
          </a:solidFill>
          <a:ln w="12700">
            <a:solidFill>
              <a:schemeClr val="accent1"/>
            </a:solidFill>
            <a:prstDash val="solid"/>
          </a:ln>
        </p:spPr>
      </p:sp>
      <p:sp>
        <p:nvSpPr>
          <p:cNvPr id="5" name="Step badge 1 label"/>
          <p:cNvSpPr txBox="1"/>
          <p:nvPr/>
        </p:nvSpPr>
        <p:spPr>
          <a:xfrm>
            <a:off x="868680" y="1143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530352" y="1645920"/>
            <a:ext cx="1060704" cy="731520"/>
          </a:xfrm>
          <a:prstGeom prst="rect">
            <a:avLst/>
          </a:prstGeom>
          <a:noFill/>
          <a:ln/>
        </p:spPr>
        <p:txBody>
          <a:bodyPr wrap="square" lIns="0" tIns="0" rIns="0" bIns="0" rtlCol="0" anchor="t"/>
          <a:lstStyle/>
          <a:p>
            <a:pPr algn="ctr" indent="0" marL="0">
              <a:spcAft>
                <a:spcPts val="400"/>
              </a:spcAft>
              <a:buNone/>
            </a:pPr>
            <a:r>
              <a:rPr lang="en-US" sz="1300" b="1" dirty="0">
                <a:solidFill>
                  <a:schemeClr val="tx2"/>
                </a:solidFill>
              </a:rPr>
              <a:t>Raw files</a:t>
            </a:r>
            <a:endParaRPr lang="en-US" sz="1400" dirty="0"/>
          </a:p>
          <a:p>
            <a:pPr algn="ctr" indent="0" marL="0">
              <a:spcAft>
                <a:spcPts val="400"/>
              </a:spcAft>
              <a:buNone/>
            </a:pPr>
            <a:r>
              <a:rPr lang="en-US" sz="1000" dirty="0">
                <a:solidFill>
                  <a:srgbClr val="5E6B72"/>
                </a:solidFill>
              </a:rPr>
              <a:t>Data/ (.mat)</a:t>
            </a:r>
            <a:endParaRPr lang="en-US" sz="1400" dirty="0"/>
          </a:p>
        </p:txBody>
      </p:sp>
      <p:sp>
        <p:nvSpPr>
          <p:cNvPr id="7" name="Arrow 1"/>
          <p:cNvSpPr/>
          <p:nvPr/>
        </p:nvSpPr>
        <p:spPr>
          <a:xfrm>
            <a:off x="1691640" y="1801368"/>
            <a:ext cx="142646" cy="182880"/>
          </a:xfrm>
          <a:prstGeom prst="rightArrow">
            <a:avLst/>
          </a:prstGeom>
          <a:solidFill>
            <a:schemeClr val="accent2"/>
          </a:solidFill>
          <a:ln w="12700">
            <a:solidFill>
              <a:schemeClr val="accent2"/>
            </a:solidFill>
            <a:prstDash val="solid"/>
          </a:ln>
        </p:spPr>
      </p:sp>
      <p:sp>
        <p:nvSpPr>
          <p:cNvPr id="8" name="Step 2"/>
          <p:cNvSpPr/>
          <p:nvPr/>
        </p:nvSpPr>
        <p:spPr>
          <a:xfrm>
            <a:off x="1861718" y="1325880"/>
            <a:ext cx="1207008" cy="1143000"/>
          </a:xfrm>
          <a:prstGeom prst="roundRect">
            <a:avLst>
              <a:gd name="adj" fmla="val 6400"/>
            </a:avLst>
          </a:prstGeom>
          <a:solidFill>
            <a:schemeClr val="bg1"/>
          </a:solidFill>
          <a:ln w="12700">
            <a:solidFill>
              <a:srgbClr val="D3DDE0"/>
            </a:solidFill>
            <a:prstDash val="solid"/>
          </a:ln>
        </p:spPr>
      </p:sp>
      <p:sp>
        <p:nvSpPr>
          <p:cNvPr id="9" name="Step badge 2"/>
          <p:cNvSpPr/>
          <p:nvPr/>
        </p:nvSpPr>
        <p:spPr>
          <a:xfrm>
            <a:off x="2273198" y="1143000"/>
            <a:ext cx="384048" cy="384048"/>
          </a:xfrm>
          <a:prstGeom prst="ellipse">
            <a:avLst/>
          </a:prstGeom>
          <a:solidFill>
            <a:schemeClr val="accent1"/>
          </a:solidFill>
          <a:ln w="12700">
            <a:solidFill>
              <a:schemeClr val="accent1"/>
            </a:solidFill>
            <a:prstDash val="solid"/>
          </a:ln>
        </p:spPr>
      </p:sp>
      <p:sp>
        <p:nvSpPr>
          <p:cNvPr id="10" name="Step badge 2 label"/>
          <p:cNvSpPr txBox="1"/>
          <p:nvPr/>
        </p:nvSpPr>
        <p:spPr>
          <a:xfrm>
            <a:off x="2273198" y="1143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9"/>
          <p:cNvSpPr txBox="1"/>
          <p:nvPr/>
        </p:nvSpPr>
        <p:spPr>
          <a:xfrm>
            <a:off x="1934870" y="1645920"/>
            <a:ext cx="1060704" cy="731520"/>
          </a:xfrm>
          <a:prstGeom prst="rect">
            <a:avLst/>
          </a:prstGeom>
          <a:noFill/>
          <a:ln/>
        </p:spPr>
        <p:txBody>
          <a:bodyPr wrap="square" lIns="0" tIns="0" rIns="0" bIns="0" rtlCol="0" anchor="t"/>
          <a:lstStyle/>
          <a:p>
            <a:pPr algn="ctr" indent="0" marL="0">
              <a:spcAft>
                <a:spcPts val="400"/>
              </a:spcAft>
              <a:buNone/>
            </a:pPr>
            <a:r>
              <a:rPr lang="en-US" sz="1300" b="1" dirty="0">
                <a:solidFill>
                  <a:schemeClr val="tx2"/>
                </a:solidFill>
              </a:rPr>
              <a:t>Load + QC</a:t>
            </a:r>
            <a:endParaRPr lang="en-US" sz="1400" dirty="0"/>
          </a:p>
          <a:p>
            <a:pPr algn="ctr" indent="0" marL="0">
              <a:spcAft>
                <a:spcPts val="400"/>
              </a:spcAft>
              <a:buNone/>
            </a:pPr>
            <a:r>
              <a:rPr lang="en-US" sz="1000" dirty="0">
                <a:solidFill>
                  <a:srgbClr val="5E6B72"/>
                </a:solidFill>
              </a:rPr>
              <a:t>src/load.py</a:t>
            </a:r>
            <a:endParaRPr lang="en-US" sz="1400" dirty="0"/>
          </a:p>
        </p:txBody>
      </p:sp>
      <p:sp>
        <p:nvSpPr>
          <p:cNvPr id="12" name="Arrow 2"/>
          <p:cNvSpPr/>
          <p:nvPr/>
        </p:nvSpPr>
        <p:spPr>
          <a:xfrm>
            <a:off x="3096158" y="1801368"/>
            <a:ext cx="142646" cy="182880"/>
          </a:xfrm>
          <a:prstGeom prst="rightArrow">
            <a:avLst/>
          </a:prstGeom>
          <a:solidFill>
            <a:schemeClr val="accent2"/>
          </a:solidFill>
          <a:ln w="12700">
            <a:solidFill>
              <a:schemeClr val="accent2"/>
            </a:solidFill>
            <a:prstDash val="solid"/>
          </a:ln>
        </p:spPr>
      </p:sp>
      <p:sp>
        <p:nvSpPr>
          <p:cNvPr id="13" name="Step 3"/>
          <p:cNvSpPr/>
          <p:nvPr/>
        </p:nvSpPr>
        <p:spPr>
          <a:xfrm>
            <a:off x="3266237" y="1325880"/>
            <a:ext cx="1207008" cy="1143000"/>
          </a:xfrm>
          <a:prstGeom prst="roundRect">
            <a:avLst>
              <a:gd name="adj" fmla="val 6400"/>
            </a:avLst>
          </a:prstGeom>
          <a:solidFill>
            <a:schemeClr val="bg1"/>
          </a:solidFill>
          <a:ln w="12700">
            <a:solidFill>
              <a:srgbClr val="D3DDE0"/>
            </a:solidFill>
            <a:prstDash val="solid"/>
          </a:ln>
        </p:spPr>
      </p:sp>
      <p:sp>
        <p:nvSpPr>
          <p:cNvPr id="14" name="Step badge 3"/>
          <p:cNvSpPr/>
          <p:nvPr/>
        </p:nvSpPr>
        <p:spPr>
          <a:xfrm>
            <a:off x="3677717" y="1143000"/>
            <a:ext cx="384048" cy="384048"/>
          </a:xfrm>
          <a:prstGeom prst="ellipse">
            <a:avLst/>
          </a:prstGeom>
          <a:solidFill>
            <a:schemeClr val="accent1"/>
          </a:solidFill>
          <a:ln w="12700">
            <a:solidFill>
              <a:schemeClr val="accent1"/>
            </a:solidFill>
            <a:prstDash val="solid"/>
          </a:ln>
        </p:spPr>
      </p:sp>
      <p:sp>
        <p:nvSpPr>
          <p:cNvPr id="15" name="Step badge 3 label"/>
          <p:cNvSpPr txBox="1"/>
          <p:nvPr/>
        </p:nvSpPr>
        <p:spPr>
          <a:xfrm>
            <a:off x="3677717" y="1143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3339389" y="1645920"/>
            <a:ext cx="1060704" cy="731520"/>
          </a:xfrm>
          <a:prstGeom prst="rect">
            <a:avLst/>
          </a:prstGeom>
          <a:noFill/>
          <a:ln/>
        </p:spPr>
        <p:txBody>
          <a:bodyPr wrap="square" lIns="0" tIns="0" rIns="0" bIns="0" rtlCol="0" anchor="t"/>
          <a:lstStyle/>
          <a:p>
            <a:pPr algn="ctr" indent="0" marL="0">
              <a:spcAft>
                <a:spcPts val="400"/>
              </a:spcAft>
              <a:buNone/>
            </a:pPr>
            <a:r>
              <a:rPr lang="en-US" sz="1300" b="1" dirty="0">
                <a:solidFill>
                  <a:schemeClr val="tx2"/>
                </a:solidFill>
              </a:rPr>
              <a:t>Features</a:t>
            </a:r>
            <a:endParaRPr lang="en-US" sz="1400" dirty="0"/>
          </a:p>
          <a:p>
            <a:pPr algn="ctr" indent="0" marL="0">
              <a:spcAft>
                <a:spcPts val="400"/>
              </a:spcAft>
              <a:buNone/>
            </a:pPr>
            <a:r>
              <a:rPr lang="en-US" sz="1000" dirty="0">
                <a:solidFill>
                  <a:srgbClr val="5E6B72"/>
                </a:solidFill>
              </a:rPr>
              <a:t>build_features</a:t>
            </a:r>
            <a:endParaRPr lang="en-US" sz="1400" dirty="0"/>
          </a:p>
        </p:txBody>
      </p:sp>
      <p:sp>
        <p:nvSpPr>
          <p:cNvPr id="17" name="Arrow 3"/>
          <p:cNvSpPr/>
          <p:nvPr/>
        </p:nvSpPr>
        <p:spPr>
          <a:xfrm>
            <a:off x="4500677" y="1801368"/>
            <a:ext cx="142646" cy="182880"/>
          </a:xfrm>
          <a:prstGeom prst="rightArrow">
            <a:avLst/>
          </a:prstGeom>
          <a:solidFill>
            <a:schemeClr val="accent2"/>
          </a:solidFill>
          <a:ln w="12700">
            <a:solidFill>
              <a:schemeClr val="accent2"/>
            </a:solidFill>
            <a:prstDash val="solid"/>
          </a:ln>
        </p:spPr>
      </p:sp>
      <p:sp>
        <p:nvSpPr>
          <p:cNvPr id="18" name="Step 4"/>
          <p:cNvSpPr/>
          <p:nvPr/>
        </p:nvSpPr>
        <p:spPr>
          <a:xfrm>
            <a:off x="4670755" y="1325880"/>
            <a:ext cx="1207008" cy="1143000"/>
          </a:xfrm>
          <a:prstGeom prst="roundRect">
            <a:avLst>
              <a:gd name="adj" fmla="val 6400"/>
            </a:avLst>
          </a:prstGeom>
          <a:solidFill>
            <a:schemeClr val="bg1"/>
          </a:solidFill>
          <a:ln w="12700">
            <a:solidFill>
              <a:srgbClr val="D3DDE0"/>
            </a:solidFill>
            <a:prstDash val="solid"/>
          </a:ln>
        </p:spPr>
      </p:sp>
      <p:sp>
        <p:nvSpPr>
          <p:cNvPr id="19" name="Step badge 4"/>
          <p:cNvSpPr/>
          <p:nvPr/>
        </p:nvSpPr>
        <p:spPr>
          <a:xfrm>
            <a:off x="5082235" y="1143000"/>
            <a:ext cx="384048" cy="384048"/>
          </a:xfrm>
          <a:prstGeom prst="ellipse">
            <a:avLst/>
          </a:prstGeom>
          <a:solidFill>
            <a:schemeClr val="accent1"/>
          </a:solidFill>
          <a:ln w="12700">
            <a:solidFill>
              <a:schemeClr val="accent1"/>
            </a:solidFill>
            <a:prstDash val="solid"/>
          </a:ln>
        </p:spPr>
      </p:sp>
      <p:sp>
        <p:nvSpPr>
          <p:cNvPr id="20" name="Step badge 4 label"/>
          <p:cNvSpPr txBox="1"/>
          <p:nvPr/>
        </p:nvSpPr>
        <p:spPr>
          <a:xfrm>
            <a:off x="5082235" y="1143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9"/>
          <p:cNvSpPr txBox="1"/>
          <p:nvPr/>
        </p:nvSpPr>
        <p:spPr>
          <a:xfrm>
            <a:off x="4743907" y="1645920"/>
            <a:ext cx="1060704" cy="731520"/>
          </a:xfrm>
          <a:prstGeom prst="rect">
            <a:avLst/>
          </a:prstGeom>
          <a:noFill/>
          <a:ln/>
        </p:spPr>
        <p:txBody>
          <a:bodyPr wrap="square" lIns="0" tIns="0" rIns="0" bIns="0" rtlCol="0" anchor="t"/>
          <a:lstStyle/>
          <a:p>
            <a:pPr algn="ctr" indent="0" marL="0">
              <a:spcAft>
                <a:spcPts val="400"/>
              </a:spcAft>
              <a:buNone/>
            </a:pPr>
            <a:r>
              <a:rPr lang="en-US" sz="1300" b="1" dirty="0">
                <a:solidFill>
                  <a:schemeClr val="tx2"/>
                </a:solidFill>
              </a:rPr>
              <a:t>Feature table</a:t>
            </a:r>
            <a:endParaRPr lang="en-US" sz="1400" dirty="0"/>
          </a:p>
          <a:p>
            <a:pPr algn="ctr" indent="0" marL="0">
              <a:spcAft>
                <a:spcPts val="400"/>
              </a:spcAft>
              <a:buNone/>
            </a:pPr>
            <a:r>
              <a:rPr lang="en-US" sz="1000" dirty="0">
                <a:solidFill>
                  <a:srgbClr val="5E6B72"/>
                </a:solidFill>
              </a:rPr>
              <a:t>outputs/cache</a:t>
            </a:r>
            <a:endParaRPr lang="en-US" sz="1400" dirty="0"/>
          </a:p>
        </p:txBody>
      </p:sp>
      <p:sp>
        <p:nvSpPr>
          <p:cNvPr id="22" name="Arrow 4"/>
          <p:cNvSpPr/>
          <p:nvPr/>
        </p:nvSpPr>
        <p:spPr>
          <a:xfrm>
            <a:off x="5905195" y="1801368"/>
            <a:ext cx="142646" cy="182880"/>
          </a:xfrm>
          <a:prstGeom prst="rightArrow">
            <a:avLst/>
          </a:prstGeom>
          <a:solidFill>
            <a:schemeClr val="accent2"/>
          </a:solidFill>
          <a:ln w="12700">
            <a:solidFill>
              <a:schemeClr val="accent2"/>
            </a:solidFill>
            <a:prstDash val="solid"/>
          </a:ln>
        </p:spPr>
      </p:sp>
      <p:sp>
        <p:nvSpPr>
          <p:cNvPr id="23" name="Step 5"/>
          <p:cNvSpPr/>
          <p:nvPr/>
        </p:nvSpPr>
        <p:spPr>
          <a:xfrm>
            <a:off x="6075274" y="1325880"/>
            <a:ext cx="1207008" cy="1143000"/>
          </a:xfrm>
          <a:prstGeom prst="roundRect">
            <a:avLst>
              <a:gd name="adj" fmla="val 6400"/>
            </a:avLst>
          </a:prstGeom>
          <a:solidFill>
            <a:schemeClr val="bg1"/>
          </a:solidFill>
          <a:ln w="12700">
            <a:solidFill>
              <a:srgbClr val="D3DDE0"/>
            </a:solidFill>
            <a:prstDash val="solid"/>
          </a:ln>
        </p:spPr>
      </p:sp>
      <p:sp>
        <p:nvSpPr>
          <p:cNvPr id="24" name="Step badge 5"/>
          <p:cNvSpPr/>
          <p:nvPr/>
        </p:nvSpPr>
        <p:spPr>
          <a:xfrm>
            <a:off x="6486754" y="1143000"/>
            <a:ext cx="384048" cy="384048"/>
          </a:xfrm>
          <a:prstGeom prst="ellipse">
            <a:avLst/>
          </a:prstGeom>
          <a:solidFill>
            <a:schemeClr val="accent1"/>
          </a:solidFill>
          <a:ln w="12700">
            <a:solidFill>
              <a:schemeClr val="accent1"/>
            </a:solidFill>
            <a:prstDash val="solid"/>
          </a:ln>
        </p:spPr>
      </p:sp>
      <p:sp>
        <p:nvSpPr>
          <p:cNvPr id="25" name="Step badge 5 label"/>
          <p:cNvSpPr txBox="1"/>
          <p:nvPr/>
        </p:nvSpPr>
        <p:spPr>
          <a:xfrm>
            <a:off x="6486754" y="1143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Text 24"/>
          <p:cNvSpPr txBox="1"/>
          <p:nvPr/>
        </p:nvSpPr>
        <p:spPr>
          <a:xfrm>
            <a:off x="6148426" y="1645920"/>
            <a:ext cx="1060704" cy="731520"/>
          </a:xfrm>
          <a:prstGeom prst="rect">
            <a:avLst/>
          </a:prstGeom>
          <a:noFill/>
          <a:ln/>
        </p:spPr>
        <p:txBody>
          <a:bodyPr wrap="square" lIns="0" tIns="0" rIns="0" bIns="0" rtlCol="0" anchor="t"/>
          <a:lstStyle/>
          <a:p>
            <a:pPr algn="ctr" indent="0" marL="0">
              <a:spcAft>
                <a:spcPts val="400"/>
              </a:spcAft>
              <a:buNone/>
            </a:pPr>
            <a:r>
              <a:rPr lang="en-US" sz="1300" b="1" dirty="0">
                <a:solidFill>
                  <a:schemeClr val="tx2"/>
                </a:solidFill>
              </a:rPr>
              <a:t>Models</a:t>
            </a:r>
            <a:endParaRPr lang="en-US" sz="1400" dirty="0"/>
          </a:p>
          <a:p>
            <a:pPr algn="ctr" indent="0" marL="0">
              <a:spcAft>
                <a:spcPts val="400"/>
              </a:spcAft>
              <a:buNone/>
            </a:pPr>
            <a:r>
              <a:rPr lang="en-US" sz="1000" dirty="0">
                <a:solidFill>
                  <a:srgbClr val="5E6B72"/>
                </a:solidFill>
              </a:rPr>
              <a:t>run_random_forest</a:t>
            </a:r>
            <a:endParaRPr lang="en-US" sz="1400" dirty="0"/>
          </a:p>
        </p:txBody>
      </p:sp>
      <p:sp>
        <p:nvSpPr>
          <p:cNvPr id="27" name="Arrow 5"/>
          <p:cNvSpPr/>
          <p:nvPr/>
        </p:nvSpPr>
        <p:spPr>
          <a:xfrm>
            <a:off x="7309714" y="1801368"/>
            <a:ext cx="142646" cy="182880"/>
          </a:xfrm>
          <a:prstGeom prst="rightArrow">
            <a:avLst/>
          </a:prstGeom>
          <a:solidFill>
            <a:schemeClr val="accent2"/>
          </a:solidFill>
          <a:ln w="12700">
            <a:solidFill>
              <a:schemeClr val="accent2"/>
            </a:solidFill>
            <a:prstDash val="solid"/>
          </a:ln>
        </p:spPr>
      </p:sp>
      <p:sp>
        <p:nvSpPr>
          <p:cNvPr id="28" name="Step 6"/>
          <p:cNvSpPr/>
          <p:nvPr/>
        </p:nvSpPr>
        <p:spPr>
          <a:xfrm>
            <a:off x="7479792" y="1325880"/>
            <a:ext cx="1207008" cy="1143000"/>
          </a:xfrm>
          <a:prstGeom prst="roundRect">
            <a:avLst>
              <a:gd name="adj" fmla="val 6400"/>
            </a:avLst>
          </a:prstGeom>
          <a:solidFill>
            <a:schemeClr val="bg1"/>
          </a:solidFill>
          <a:ln w="12700">
            <a:solidFill>
              <a:srgbClr val="D3DDE0"/>
            </a:solidFill>
            <a:prstDash val="solid"/>
          </a:ln>
        </p:spPr>
      </p:sp>
      <p:sp>
        <p:nvSpPr>
          <p:cNvPr id="29" name="Step badge 6"/>
          <p:cNvSpPr/>
          <p:nvPr/>
        </p:nvSpPr>
        <p:spPr>
          <a:xfrm>
            <a:off x="7891272" y="1143000"/>
            <a:ext cx="384048" cy="384048"/>
          </a:xfrm>
          <a:prstGeom prst="ellipse">
            <a:avLst/>
          </a:prstGeom>
          <a:solidFill>
            <a:schemeClr val="accent1"/>
          </a:solidFill>
          <a:ln w="12700">
            <a:solidFill>
              <a:schemeClr val="accent1"/>
            </a:solidFill>
            <a:prstDash val="solid"/>
          </a:ln>
        </p:spPr>
      </p:sp>
      <p:sp>
        <p:nvSpPr>
          <p:cNvPr id="30" name="Step badge 6 label"/>
          <p:cNvSpPr txBox="1"/>
          <p:nvPr/>
        </p:nvSpPr>
        <p:spPr>
          <a:xfrm>
            <a:off x="7891272" y="1143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Text 29"/>
          <p:cNvSpPr txBox="1"/>
          <p:nvPr/>
        </p:nvSpPr>
        <p:spPr>
          <a:xfrm>
            <a:off x="7552944" y="1645920"/>
            <a:ext cx="1060704" cy="731520"/>
          </a:xfrm>
          <a:prstGeom prst="rect">
            <a:avLst/>
          </a:prstGeom>
          <a:noFill/>
          <a:ln/>
        </p:spPr>
        <p:txBody>
          <a:bodyPr wrap="square" lIns="0" tIns="0" rIns="0" bIns="0" rtlCol="0" anchor="t"/>
          <a:lstStyle/>
          <a:p>
            <a:pPr algn="ctr" indent="0" marL="0">
              <a:spcAft>
                <a:spcPts val="400"/>
              </a:spcAft>
              <a:buNone/>
            </a:pPr>
            <a:r>
              <a:rPr lang="en-US" sz="1300" b="1" dirty="0">
                <a:solidFill>
                  <a:schemeClr val="tx2"/>
                </a:solidFill>
              </a:rPr>
              <a:t>Report</a:t>
            </a:r>
            <a:endParaRPr lang="en-US" sz="1400" dirty="0"/>
          </a:p>
          <a:p>
            <a:pPr algn="ctr" indent="0" marL="0">
              <a:spcAft>
                <a:spcPts val="400"/>
              </a:spcAft>
              <a:buNone/>
            </a:pPr>
            <a:r>
              <a:rPr lang="en-US" sz="1000" dirty="0">
                <a:solidFill>
                  <a:srgbClr val="5E6B72"/>
                </a:solidFill>
              </a:rPr>
              <a:t>outputs/</a:t>
            </a:r>
            <a:endParaRPr lang="en-US" sz="1400" dirty="0"/>
          </a:p>
        </p:txBody>
      </p:sp>
      <p:sp>
        <p:nvSpPr>
          <p:cNvPr id="32" name="Repo card"/>
          <p:cNvSpPr/>
          <p:nvPr/>
        </p:nvSpPr>
        <p:spPr>
          <a:xfrm>
            <a:off x="457200" y="2743200"/>
            <a:ext cx="3977640" cy="1783080"/>
          </a:xfrm>
          <a:prstGeom prst="roundRect">
            <a:avLst>
              <a:gd name="adj" fmla="val 4103"/>
            </a:avLst>
          </a:prstGeom>
          <a:solidFill>
            <a:schemeClr val="bg1"/>
          </a:solidFill>
          <a:ln w="12700">
            <a:solidFill>
              <a:srgbClr val="D3DDE0"/>
            </a:solidFill>
            <a:prstDash val="solid"/>
          </a:ln>
        </p:spPr>
      </p:sp>
      <p:sp>
        <p:nvSpPr>
          <p:cNvPr id="33" name="Text 31"/>
          <p:cNvSpPr txBox="1"/>
          <p:nvPr/>
        </p:nvSpPr>
        <p:spPr>
          <a:xfrm>
            <a:off x="658368" y="2852928"/>
            <a:ext cx="3657600" cy="320040"/>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Code layout</a:t>
            </a:r>
            <a:endParaRPr lang="en-US" sz="1400" dirty="0"/>
          </a:p>
        </p:txBody>
      </p:sp>
      <p:sp>
        <p:nvSpPr>
          <p:cNvPr id="34" name="Text 32"/>
          <p:cNvSpPr txBox="1"/>
          <p:nvPr/>
        </p:nvSpPr>
        <p:spPr>
          <a:xfrm>
            <a:off x="658368" y="3200400"/>
            <a:ext cx="3657600" cy="123444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src/  load, features, models, predict</a:t>
            </a:r>
            <a:endParaRPr lang="en-US" sz="1400" dirty="0"/>
          </a:p>
          <a:p>
            <a:pPr marL="177800" indent="-177800">
              <a:spcAft>
                <a:spcPts val="600"/>
              </a:spcAft>
              <a:buSzPct val="100000"/>
              <a:buChar char="•"/>
            </a:pPr>
            <a:r>
              <a:rPr lang="en-US" sz="1200" dirty="0">
                <a:solidFill>
                  <a:schemeClr val="tx1"/>
                </a:solidFill>
              </a:rPr>
              <a:t>scripts/  all models, figures, diagnostics</a:t>
            </a:r>
            <a:endParaRPr lang="en-US" sz="1400" dirty="0"/>
          </a:p>
          <a:p>
            <a:pPr marL="177800" indent="-177800">
              <a:spcAft>
                <a:spcPts val="600"/>
              </a:spcAft>
              <a:buSzPct val="100000"/>
              <a:buChar char="•"/>
            </a:pPr>
            <a:r>
              <a:rPr lang="en-US" sz="1200" dirty="0">
                <a:solidFill>
                  <a:schemeClr val="tx1"/>
                </a:solidFill>
              </a:rPr>
              <a:t>outputs/  cached table, tables, figures, report</a:t>
            </a:r>
            <a:endParaRPr lang="en-US" sz="1400" dirty="0"/>
          </a:p>
        </p:txBody>
      </p:sp>
      <p:sp>
        <p:nvSpPr>
          <p:cNvPr id="35" name="Demo card"/>
          <p:cNvSpPr/>
          <p:nvPr/>
        </p:nvSpPr>
        <p:spPr>
          <a:xfrm>
            <a:off x="4709160" y="2743200"/>
            <a:ext cx="3977640" cy="1783080"/>
          </a:xfrm>
          <a:prstGeom prst="roundRect">
            <a:avLst>
              <a:gd name="adj" fmla="val 4103"/>
            </a:avLst>
          </a:prstGeom>
          <a:solidFill>
            <a:schemeClr val="bg1"/>
          </a:solidFill>
          <a:ln w="12700">
            <a:solidFill>
              <a:srgbClr val="D3DDE0"/>
            </a:solidFill>
            <a:prstDash val="solid"/>
          </a:ln>
        </p:spPr>
      </p:sp>
      <p:sp>
        <p:nvSpPr>
          <p:cNvPr id="36" name="Text 34"/>
          <p:cNvSpPr txBox="1"/>
          <p:nvPr/>
        </p:nvSpPr>
        <p:spPr>
          <a:xfrm>
            <a:off x="4910328" y="2852928"/>
            <a:ext cx="3657600" cy="320040"/>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Live demo (two commands)</a:t>
            </a:r>
            <a:endParaRPr lang="en-US" sz="1400" dirty="0"/>
          </a:p>
        </p:txBody>
      </p:sp>
      <p:sp>
        <p:nvSpPr>
          <p:cNvPr id="37" name="Text 35"/>
          <p:cNvSpPr txBox="1"/>
          <p:nvPr/>
        </p:nvSpPr>
        <p:spPr>
          <a:xfrm>
            <a:off x="4910328" y="3246120"/>
            <a:ext cx="3657600" cy="640080"/>
          </a:xfrm>
          <a:prstGeom prst="rect">
            <a:avLst/>
          </a:prstGeom>
          <a:noFill/>
          <a:ln/>
        </p:spPr>
        <p:txBody>
          <a:bodyPr wrap="square" lIns="0" tIns="0" rIns="0" bIns="0" rtlCol="0" anchor="t"/>
          <a:lstStyle/>
          <a:p>
            <a:pPr indent="0" marL="0">
              <a:spcAft>
                <a:spcPts val="400"/>
              </a:spcAft>
              <a:buNone/>
            </a:pPr>
            <a:r>
              <a:rPr lang="en-US" sz="1100" dirty="0">
                <a:solidFill>
                  <a:schemeClr val="tx1"/>
                </a:solidFill>
                <a:latin typeface="Courier New" pitchFamily="34" charset="0"/>
                <a:ea typeface="Courier New" pitchFamily="34" charset="-122"/>
                <a:cs typeface="Courier New" pitchFamily="34" charset="-120"/>
              </a:rPr>
              <a:t>ven/bin/python build_features.py</a:t>
            </a:r>
            <a:endParaRPr lang="en-US" sz="1100" dirty="0"/>
          </a:p>
          <a:p>
            <a:pPr indent="0" marL="0">
              <a:spcAft>
                <a:spcPts val="400"/>
              </a:spcAft>
              <a:buNone/>
            </a:pPr>
            <a:r>
              <a:rPr lang="en-US" sz="1100" dirty="0">
                <a:solidFill>
                  <a:schemeClr val="tx1"/>
                </a:solidFill>
                <a:latin typeface="Courier New" pitchFamily="34" charset="0"/>
                <a:ea typeface="Courier New" pitchFamily="34" charset="-122"/>
                <a:cs typeface="Courier New" pitchFamily="34" charset="-120"/>
              </a:rPr>
              <a:t>ven/bin/python run_random_forest.py</a:t>
            </a:r>
            <a:endParaRPr lang="en-US" sz="1100" dirty="0"/>
          </a:p>
        </p:txBody>
      </p:sp>
      <p:sp>
        <p:nvSpPr>
          <p:cNvPr id="38" name="Text 36"/>
          <p:cNvSpPr txBox="1"/>
          <p:nvPr/>
        </p:nvSpPr>
        <p:spPr>
          <a:xfrm>
            <a:off x="4910328" y="3931920"/>
            <a:ext cx="3657600" cy="457200"/>
          </a:xfrm>
          <a:prstGeom prst="rect">
            <a:avLst/>
          </a:prstGeom>
          <a:noFill/>
          <a:ln/>
        </p:spPr>
        <p:txBody>
          <a:bodyPr wrap="square" lIns="0" tIns="0" rIns="0" bIns="0" rtlCol="0" anchor="t"/>
          <a:lstStyle/>
          <a:p>
            <a:pPr indent="0" marL="0">
              <a:spcAft>
                <a:spcPts val="400"/>
              </a:spcAft>
              <a:buNone/>
            </a:pPr>
            <a:r>
              <a:rPr lang="en-US" sz="1200" dirty="0">
                <a:solidFill>
                  <a:srgbClr val="5E6B72"/>
                </a:solidFill>
              </a:rPr>
              <a:t>Prints our scores next to both papers and saves a CSV.</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Our model choice: Random Forest</a:t>
            </a:r>
            <a:endParaRPr lang="en-US" sz="3000" dirty="0"/>
          </a:p>
        </p:txBody>
      </p:sp>
      <p:sp>
        <p:nvSpPr>
          <p:cNvPr id="3" name="Why RF card"/>
          <p:cNvSpPr/>
          <p:nvPr/>
        </p:nvSpPr>
        <p:spPr>
          <a:xfrm>
            <a:off x="457200" y="1143000"/>
            <a:ext cx="3977640" cy="2743200"/>
          </a:xfrm>
          <a:prstGeom prst="roundRect">
            <a:avLst>
              <a:gd name="adj" fmla="val 2667"/>
            </a:avLst>
          </a:prstGeom>
          <a:solidFill>
            <a:schemeClr val="bg1"/>
          </a:solidFill>
          <a:ln w="12700">
            <a:solidFill>
              <a:srgbClr val="D3DDE0"/>
            </a:solidFill>
            <a:prstDash val="solid"/>
          </a:ln>
        </p:spPr>
      </p:sp>
      <p:sp>
        <p:nvSpPr>
          <p:cNvPr id="4" name="Text 2"/>
          <p:cNvSpPr txBox="1"/>
          <p:nvPr/>
        </p:nvSpPr>
        <p:spPr>
          <a:xfrm>
            <a:off x="658368" y="1261872"/>
            <a:ext cx="3657600" cy="320040"/>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Why a Random Forest</a:t>
            </a:r>
            <a:endParaRPr lang="en-US" sz="1400" dirty="0"/>
          </a:p>
        </p:txBody>
      </p:sp>
      <p:sp>
        <p:nvSpPr>
          <p:cNvPr id="5" name="Text 3"/>
          <p:cNvSpPr txBox="1"/>
          <p:nvPr/>
        </p:nvSpPr>
        <p:spPr>
          <a:xfrm>
            <a:off x="658368" y="1627632"/>
            <a:ext cx="3657600" cy="21945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Same model as the internal CS229 study, so scores compare directly (32 trees, default settings)</a:t>
            </a:r>
            <a:endParaRPr lang="en-US" sz="1400" dirty="0"/>
          </a:p>
          <a:p>
            <a:pPr marL="177800" indent="-177800">
              <a:spcAft>
                <a:spcPts val="600"/>
              </a:spcAft>
              <a:buSzPct val="100000"/>
              <a:buChar char="•"/>
            </a:pPr>
            <a:r>
              <a:rPr lang="en-US" sz="1300" dirty="0">
                <a:solidFill>
                  <a:schemeClr val="tx1"/>
                </a:solidFill>
              </a:rPr>
              <a:t>Captures thresholds: waves only break flocs above a certain strength</a:t>
            </a:r>
            <a:endParaRPr lang="en-US" sz="1400" dirty="0"/>
          </a:p>
          <a:p>
            <a:pPr marL="177800" indent="-177800">
              <a:spcAft>
                <a:spcPts val="600"/>
              </a:spcAft>
              <a:buSzPct val="100000"/>
              <a:buChar char="•"/>
            </a:pPr>
            <a:r>
              <a:rPr lang="en-US" sz="1300" dirty="0">
                <a:solidFill>
                  <a:schemeClr val="tx1"/>
                </a:solidFill>
              </a:rPr>
              <a:t>Built for small tables: no scaling, robust to noisy sensors</a:t>
            </a:r>
            <a:endParaRPr lang="en-US" sz="1400" dirty="0"/>
          </a:p>
          <a:p>
            <a:pPr marL="177800" indent="-177800">
              <a:spcAft>
                <a:spcPts val="600"/>
              </a:spcAft>
              <a:buSzPct val="100000"/>
              <a:buChar char="•"/>
            </a:pPr>
            <a:r>
              <a:rPr lang="en-US" sz="1300" dirty="0">
                <a:solidFill>
                  <a:schemeClr val="tx1"/>
                </a:solidFill>
              </a:rPr>
              <a:t>Explains itself: feature importance shows which physics matters</a:t>
            </a:r>
            <a:endParaRPr lang="en-US" sz="1400" dirty="0"/>
          </a:p>
        </p:txBody>
      </p:sp>
      <p:sp>
        <p:nvSpPr>
          <p:cNvPr id="6" name="Data fit card"/>
          <p:cNvSpPr/>
          <p:nvPr/>
        </p:nvSpPr>
        <p:spPr>
          <a:xfrm>
            <a:off x="4709160" y="1143000"/>
            <a:ext cx="3977640" cy="2743200"/>
          </a:xfrm>
          <a:prstGeom prst="roundRect">
            <a:avLst>
              <a:gd name="adj" fmla="val 2667"/>
            </a:avLst>
          </a:prstGeom>
          <a:solidFill>
            <a:schemeClr val="bg1"/>
          </a:solidFill>
          <a:ln w="12700">
            <a:solidFill>
              <a:srgbClr val="D3DDE0"/>
            </a:solidFill>
            <a:prstDash val="solid"/>
          </a:ln>
        </p:spPr>
      </p:sp>
      <p:sp>
        <p:nvSpPr>
          <p:cNvPr id="7" name="Text 5"/>
          <p:cNvSpPr txBox="1"/>
          <p:nvPr/>
        </p:nvSpPr>
        <p:spPr>
          <a:xfrm>
            <a:off x="4910328" y="1261872"/>
            <a:ext cx="3657600" cy="320040"/>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How our data suits it</a:t>
            </a:r>
            <a:endParaRPr lang="en-US" sz="1400" dirty="0"/>
          </a:p>
        </p:txBody>
      </p:sp>
      <p:sp>
        <p:nvSpPr>
          <p:cNvPr id="8" name="Text 6"/>
          <p:cNvSpPr txBox="1"/>
          <p:nvPr/>
        </p:nvSpPr>
        <p:spPr>
          <a:xfrm>
            <a:off x="4910328" y="1627632"/>
            <a:ext cx="3657600" cy="21945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Tabular: 1,120 rows x 6 features, one row per hour</a:t>
            </a:r>
            <a:endParaRPr lang="en-US" sz="1400" dirty="0"/>
          </a:p>
          <a:p>
            <a:pPr marL="177800" indent="-177800">
              <a:spcAft>
                <a:spcPts val="600"/>
              </a:spcAft>
              <a:buSzPct val="100000"/>
              <a:buChar char="•"/>
            </a:pPr>
            <a:r>
              <a:rPr lang="en-US" sz="1300" dirty="0">
                <a:solidFill>
                  <a:schemeClr val="tx1"/>
                </a:solidFill>
              </a:rPr>
              <a:t>Mixed units (m/s, °C, PSU, W/kg) are fine for trees</a:t>
            </a:r>
            <a:endParaRPr lang="en-US" sz="1400" dirty="0"/>
          </a:p>
          <a:p>
            <a:pPr marL="177800" indent="-177800">
              <a:spcAft>
                <a:spcPts val="600"/>
              </a:spcAft>
              <a:buSzPct val="100000"/>
              <a:buChar char="•"/>
            </a:pPr>
            <a:r>
              <a:rPr lang="en-US" sz="1300" dirty="0">
                <a:solidFill>
                  <a:schemeClr val="tx1"/>
                </a:solidFill>
              </a:rPr>
              <a:t>Features interact (tide x waves); trees learn this without hand-made terms</a:t>
            </a:r>
            <a:endParaRPr lang="en-US" sz="1400" dirty="0"/>
          </a:p>
          <a:p>
            <a:pPr marL="177800" indent="-177800">
              <a:spcAft>
                <a:spcPts val="600"/>
              </a:spcAft>
              <a:buSzPct val="100000"/>
              <a:buChar char="•"/>
            </a:pPr>
            <a:r>
              <a:rPr lang="en-US" sz="1300" dirty="0">
                <a:solidFill>
                  <a:schemeClr val="tx1"/>
                </a:solidFill>
              </a:rPr>
              <a:t>Averaging many trees smooths the noise in field data</a:t>
            </a:r>
            <a:endParaRPr lang="en-US" sz="1400" dirty="0"/>
          </a:p>
        </p:txBody>
      </p:sp>
      <p:sp>
        <p:nvSpPr>
          <p:cNvPr id="9" name="Text 7"/>
          <p:cNvSpPr txBox="1"/>
          <p:nvPr/>
        </p:nvSpPr>
        <p:spPr>
          <a:xfrm>
            <a:off x="457200" y="4023360"/>
            <a:ext cx="8229600" cy="685800"/>
          </a:xfrm>
          <a:prstGeom prst="rect">
            <a:avLst/>
          </a:prstGeom>
          <a:noFill/>
          <a:ln/>
        </p:spPr>
        <p:txBody>
          <a:bodyPr wrap="square" lIns="0" tIns="0" rIns="0" bIns="0" rtlCol="0" anchor="t"/>
          <a:lstStyle/>
          <a:p>
            <a:pPr indent="0" marL="0">
              <a:spcAft>
                <a:spcPts val="400"/>
              </a:spcAft>
              <a:buNone/>
            </a:pPr>
            <a:r>
              <a:rPr lang="en-US" sz="1300" b="1" dirty="0">
                <a:solidFill>
                  <a:schemeClr val="accent6"/>
                </a:solidFill>
              </a:rPr>
              <a:t>Watch-outs: </a:t>
            </a:r>
            <a:pPr indent="0" marL="0">
              <a:spcAft>
                <a:spcPts val="400"/>
              </a:spcAft>
              <a:buNone/>
            </a:pPr>
            <a:r>
              <a:rPr lang="en-US" sz="1300" dirty="0">
                <a:solidFill>
                  <a:schemeClr val="tx1"/>
                </a:solidFill>
              </a:rPr>
              <a:t>a forest cannot predict beyond the range it was trained on, and neighbouring hours are near-copies, so a random split overstates accuracy. </a:t>
            </a:r>
            <a:pPr indent="0" marL="0">
              <a:spcAft>
                <a:spcPts val="400"/>
              </a:spcAft>
              <a:buNone/>
            </a:pPr>
            <a:r>
              <a:rPr lang="en-US" sz="1300" b="1" dirty="0">
                <a:solidFill>
                  <a:schemeClr val="tx2"/>
                </a:solidFill>
              </a:rPr>
              <a:t>Also run for comparison: </a:t>
            </a:r>
            <a:pPr indent="0" marL="0">
              <a:spcAft>
                <a:spcPts val="400"/>
              </a:spcAft>
              <a:buNone/>
            </a:pPr>
            <a:r>
              <a:rPr lang="en-US" sz="1300" dirty="0">
                <a:solidFill>
                  <a:schemeClr val="tx1"/>
                </a:solidFill>
              </a:rPr>
              <a:t>LASSO (journal paper) and SVR (class paper's second model).</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we test: three ways to hold data out</a:t>
            </a:r>
            <a:endParaRPr lang="en-US" sz="3000" dirty="0"/>
          </a:p>
        </p:txBody>
      </p:sp>
      <p:sp>
        <p:nvSpPr>
          <p:cNvPr id="3" name="Text 1"/>
          <p:cNvSpPr txBox="1"/>
          <p:nvPr/>
        </p:nvSpPr>
        <p:spPr>
          <a:xfrm>
            <a:off x="457200" y="1234440"/>
            <a:ext cx="1828800" cy="320040"/>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Random 70/30</a:t>
            </a:r>
            <a:endParaRPr lang="en-US" sz="1400" dirty="0"/>
          </a:p>
        </p:txBody>
      </p:sp>
      <p:sp>
        <p:nvSpPr>
          <p:cNvPr id="4" name="Timeline 1-1"/>
          <p:cNvSpPr/>
          <p:nvPr/>
        </p:nvSpPr>
        <p:spPr>
          <a:xfrm>
            <a:off x="457200" y="1618488"/>
            <a:ext cx="118872" cy="237744"/>
          </a:xfrm>
          <a:prstGeom prst="rect">
            <a:avLst/>
          </a:prstGeom>
          <a:solidFill>
            <a:schemeClr val="accent1"/>
          </a:solidFill>
          <a:ln w="9525">
            <a:solidFill>
              <a:srgbClr val="1F4E5F"/>
            </a:solidFill>
            <a:prstDash val="solid"/>
          </a:ln>
        </p:spPr>
      </p:sp>
      <p:sp>
        <p:nvSpPr>
          <p:cNvPr id="5" name="Timeline 1-2"/>
          <p:cNvSpPr/>
          <p:nvPr/>
        </p:nvSpPr>
        <p:spPr>
          <a:xfrm>
            <a:off x="608076" y="1618488"/>
            <a:ext cx="118872" cy="237744"/>
          </a:xfrm>
          <a:prstGeom prst="rect">
            <a:avLst/>
          </a:prstGeom>
          <a:solidFill>
            <a:schemeClr val="accent1"/>
          </a:solidFill>
          <a:ln w="9525">
            <a:solidFill>
              <a:srgbClr val="1F4E5F"/>
            </a:solidFill>
            <a:prstDash val="solid"/>
          </a:ln>
        </p:spPr>
      </p:sp>
      <p:sp>
        <p:nvSpPr>
          <p:cNvPr id="6" name="Timeline 1-3"/>
          <p:cNvSpPr/>
          <p:nvPr/>
        </p:nvSpPr>
        <p:spPr>
          <a:xfrm>
            <a:off x="758952" y="1618488"/>
            <a:ext cx="118872" cy="237744"/>
          </a:xfrm>
          <a:prstGeom prst="rect">
            <a:avLst/>
          </a:prstGeom>
          <a:solidFill>
            <a:schemeClr val="accent2"/>
          </a:solidFill>
          <a:ln w="9525">
            <a:solidFill>
              <a:srgbClr val="B8732A"/>
            </a:solidFill>
            <a:prstDash val="solid"/>
          </a:ln>
        </p:spPr>
      </p:sp>
      <p:sp>
        <p:nvSpPr>
          <p:cNvPr id="7" name="Timeline 1-4"/>
          <p:cNvSpPr/>
          <p:nvPr/>
        </p:nvSpPr>
        <p:spPr>
          <a:xfrm>
            <a:off x="909828" y="1618488"/>
            <a:ext cx="118872" cy="237744"/>
          </a:xfrm>
          <a:prstGeom prst="rect">
            <a:avLst/>
          </a:prstGeom>
          <a:solidFill>
            <a:schemeClr val="accent1"/>
          </a:solidFill>
          <a:ln w="9525">
            <a:solidFill>
              <a:srgbClr val="1F4E5F"/>
            </a:solidFill>
            <a:prstDash val="solid"/>
          </a:ln>
        </p:spPr>
      </p:sp>
      <p:sp>
        <p:nvSpPr>
          <p:cNvPr id="8" name="Timeline 1-5"/>
          <p:cNvSpPr/>
          <p:nvPr/>
        </p:nvSpPr>
        <p:spPr>
          <a:xfrm>
            <a:off x="1060704" y="1618488"/>
            <a:ext cx="118872" cy="237744"/>
          </a:xfrm>
          <a:prstGeom prst="rect">
            <a:avLst/>
          </a:prstGeom>
          <a:solidFill>
            <a:schemeClr val="accent1"/>
          </a:solidFill>
          <a:ln w="9525">
            <a:solidFill>
              <a:srgbClr val="1F4E5F"/>
            </a:solidFill>
            <a:prstDash val="solid"/>
          </a:ln>
        </p:spPr>
      </p:sp>
      <p:sp>
        <p:nvSpPr>
          <p:cNvPr id="9" name="Timeline 1-6"/>
          <p:cNvSpPr/>
          <p:nvPr/>
        </p:nvSpPr>
        <p:spPr>
          <a:xfrm>
            <a:off x="1211580" y="1618488"/>
            <a:ext cx="118872" cy="237744"/>
          </a:xfrm>
          <a:prstGeom prst="rect">
            <a:avLst/>
          </a:prstGeom>
          <a:solidFill>
            <a:schemeClr val="accent2"/>
          </a:solidFill>
          <a:ln w="9525">
            <a:solidFill>
              <a:srgbClr val="B8732A"/>
            </a:solidFill>
            <a:prstDash val="solid"/>
          </a:ln>
        </p:spPr>
      </p:sp>
      <p:sp>
        <p:nvSpPr>
          <p:cNvPr id="10" name="Timeline 1-7"/>
          <p:cNvSpPr/>
          <p:nvPr/>
        </p:nvSpPr>
        <p:spPr>
          <a:xfrm>
            <a:off x="1362456" y="1618488"/>
            <a:ext cx="118872" cy="237744"/>
          </a:xfrm>
          <a:prstGeom prst="rect">
            <a:avLst/>
          </a:prstGeom>
          <a:solidFill>
            <a:schemeClr val="accent1"/>
          </a:solidFill>
          <a:ln w="9525">
            <a:solidFill>
              <a:srgbClr val="1F4E5F"/>
            </a:solidFill>
            <a:prstDash val="solid"/>
          </a:ln>
        </p:spPr>
      </p:sp>
      <p:sp>
        <p:nvSpPr>
          <p:cNvPr id="11" name="Timeline 1-8"/>
          <p:cNvSpPr/>
          <p:nvPr/>
        </p:nvSpPr>
        <p:spPr>
          <a:xfrm>
            <a:off x="1513332" y="1618488"/>
            <a:ext cx="118872" cy="237744"/>
          </a:xfrm>
          <a:prstGeom prst="rect">
            <a:avLst/>
          </a:prstGeom>
          <a:solidFill>
            <a:schemeClr val="accent1"/>
          </a:solidFill>
          <a:ln w="9525">
            <a:solidFill>
              <a:srgbClr val="1F4E5F"/>
            </a:solidFill>
            <a:prstDash val="solid"/>
          </a:ln>
        </p:spPr>
      </p:sp>
      <p:sp>
        <p:nvSpPr>
          <p:cNvPr id="12" name="Timeline 1-9"/>
          <p:cNvSpPr/>
          <p:nvPr/>
        </p:nvSpPr>
        <p:spPr>
          <a:xfrm>
            <a:off x="1664208" y="1618488"/>
            <a:ext cx="118872" cy="237744"/>
          </a:xfrm>
          <a:prstGeom prst="rect">
            <a:avLst/>
          </a:prstGeom>
          <a:solidFill>
            <a:schemeClr val="accent1"/>
          </a:solidFill>
          <a:ln w="9525">
            <a:solidFill>
              <a:srgbClr val="1F4E5F"/>
            </a:solidFill>
            <a:prstDash val="solid"/>
          </a:ln>
        </p:spPr>
      </p:sp>
      <p:sp>
        <p:nvSpPr>
          <p:cNvPr id="13" name="Timeline 1-10"/>
          <p:cNvSpPr/>
          <p:nvPr/>
        </p:nvSpPr>
        <p:spPr>
          <a:xfrm>
            <a:off x="1815084" y="1618488"/>
            <a:ext cx="118872" cy="237744"/>
          </a:xfrm>
          <a:prstGeom prst="rect">
            <a:avLst/>
          </a:prstGeom>
          <a:solidFill>
            <a:schemeClr val="accent2"/>
          </a:solidFill>
          <a:ln w="9525">
            <a:solidFill>
              <a:srgbClr val="B8732A"/>
            </a:solidFill>
            <a:prstDash val="solid"/>
          </a:ln>
        </p:spPr>
      </p:sp>
      <p:sp>
        <p:nvSpPr>
          <p:cNvPr id="14" name="Timeline 1-11"/>
          <p:cNvSpPr/>
          <p:nvPr/>
        </p:nvSpPr>
        <p:spPr>
          <a:xfrm>
            <a:off x="1965960" y="1618488"/>
            <a:ext cx="118872" cy="237744"/>
          </a:xfrm>
          <a:prstGeom prst="rect">
            <a:avLst/>
          </a:prstGeom>
          <a:solidFill>
            <a:schemeClr val="accent1"/>
          </a:solidFill>
          <a:ln w="9525">
            <a:solidFill>
              <a:srgbClr val="1F4E5F"/>
            </a:solidFill>
            <a:prstDash val="solid"/>
          </a:ln>
        </p:spPr>
      </p:sp>
      <p:sp>
        <p:nvSpPr>
          <p:cNvPr id="15" name="Timeline 1-12"/>
          <p:cNvSpPr/>
          <p:nvPr/>
        </p:nvSpPr>
        <p:spPr>
          <a:xfrm>
            <a:off x="2116836" y="1618488"/>
            <a:ext cx="118872" cy="237744"/>
          </a:xfrm>
          <a:prstGeom prst="rect">
            <a:avLst/>
          </a:prstGeom>
          <a:solidFill>
            <a:schemeClr val="accent1"/>
          </a:solidFill>
          <a:ln w="9525">
            <a:solidFill>
              <a:srgbClr val="1F4E5F"/>
            </a:solidFill>
            <a:prstDash val="solid"/>
          </a:ln>
        </p:spPr>
      </p:sp>
      <p:sp>
        <p:nvSpPr>
          <p:cNvPr id="16" name="Timeline 1-13"/>
          <p:cNvSpPr/>
          <p:nvPr/>
        </p:nvSpPr>
        <p:spPr>
          <a:xfrm>
            <a:off x="2267712" y="1618488"/>
            <a:ext cx="118872" cy="237744"/>
          </a:xfrm>
          <a:prstGeom prst="rect">
            <a:avLst/>
          </a:prstGeom>
          <a:solidFill>
            <a:schemeClr val="accent2"/>
          </a:solidFill>
          <a:ln w="9525">
            <a:solidFill>
              <a:srgbClr val="B8732A"/>
            </a:solidFill>
            <a:prstDash val="solid"/>
          </a:ln>
        </p:spPr>
      </p:sp>
      <p:sp>
        <p:nvSpPr>
          <p:cNvPr id="17" name="Timeline 1-14"/>
          <p:cNvSpPr/>
          <p:nvPr/>
        </p:nvSpPr>
        <p:spPr>
          <a:xfrm>
            <a:off x="2418588" y="1618488"/>
            <a:ext cx="118872" cy="237744"/>
          </a:xfrm>
          <a:prstGeom prst="rect">
            <a:avLst/>
          </a:prstGeom>
          <a:solidFill>
            <a:schemeClr val="accent1"/>
          </a:solidFill>
          <a:ln w="9525">
            <a:solidFill>
              <a:srgbClr val="1F4E5F"/>
            </a:solidFill>
            <a:prstDash val="solid"/>
          </a:ln>
        </p:spPr>
      </p:sp>
      <p:sp>
        <p:nvSpPr>
          <p:cNvPr id="18" name="Timeline 1-15"/>
          <p:cNvSpPr/>
          <p:nvPr/>
        </p:nvSpPr>
        <p:spPr>
          <a:xfrm>
            <a:off x="2569464" y="1618488"/>
            <a:ext cx="118872" cy="237744"/>
          </a:xfrm>
          <a:prstGeom prst="rect">
            <a:avLst/>
          </a:prstGeom>
          <a:solidFill>
            <a:schemeClr val="accent1"/>
          </a:solidFill>
          <a:ln w="9525">
            <a:solidFill>
              <a:srgbClr val="1F4E5F"/>
            </a:solidFill>
            <a:prstDash val="solid"/>
          </a:ln>
        </p:spPr>
      </p:sp>
      <p:sp>
        <p:nvSpPr>
          <p:cNvPr id="19" name="Timeline 1-16"/>
          <p:cNvSpPr/>
          <p:nvPr/>
        </p:nvSpPr>
        <p:spPr>
          <a:xfrm>
            <a:off x="2720340" y="1618488"/>
            <a:ext cx="118872" cy="237744"/>
          </a:xfrm>
          <a:prstGeom prst="rect">
            <a:avLst/>
          </a:prstGeom>
          <a:solidFill>
            <a:schemeClr val="accent1"/>
          </a:solidFill>
          <a:ln w="9525">
            <a:solidFill>
              <a:srgbClr val="1F4E5F"/>
            </a:solidFill>
            <a:prstDash val="solid"/>
          </a:ln>
        </p:spPr>
      </p:sp>
      <p:sp>
        <p:nvSpPr>
          <p:cNvPr id="20" name="Timeline 1-17"/>
          <p:cNvSpPr/>
          <p:nvPr/>
        </p:nvSpPr>
        <p:spPr>
          <a:xfrm>
            <a:off x="2871216" y="1618488"/>
            <a:ext cx="118872" cy="237744"/>
          </a:xfrm>
          <a:prstGeom prst="rect">
            <a:avLst/>
          </a:prstGeom>
          <a:solidFill>
            <a:schemeClr val="accent2"/>
          </a:solidFill>
          <a:ln w="9525">
            <a:solidFill>
              <a:srgbClr val="B8732A"/>
            </a:solidFill>
            <a:prstDash val="solid"/>
          </a:ln>
        </p:spPr>
      </p:sp>
      <p:sp>
        <p:nvSpPr>
          <p:cNvPr id="21" name="Timeline 1-18"/>
          <p:cNvSpPr/>
          <p:nvPr/>
        </p:nvSpPr>
        <p:spPr>
          <a:xfrm>
            <a:off x="3022092" y="1618488"/>
            <a:ext cx="118872" cy="237744"/>
          </a:xfrm>
          <a:prstGeom prst="rect">
            <a:avLst/>
          </a:prstGeom>
          <a:solidFill>
            <a:schemeClr val="accent1"/>
          </a:solidFill>
          <a:ln w="9525">
            <a:solidFill>
              <a:srgbClr val="1F4E5F"/>
            </a:solidFill>
            <a:prstDash val="solid"/>
          </a:ln>
        </p:spPr>
      </p:sp>
      <p:sp>
        <p:nvSpPr>
          <p:cNvPr id="22" name="Timeline 1-19"/>
          <p:cNvSpPr/>
          <p:nvPr/>
        </p:nvSpPr>
        <p:spPr>
          <a:xfrm>
            <a:off x="3172968" y="1618488"/>
            <a:ext cx="118872" cy="237744"/>
          </a:xfrm>
          <a:prstGeom prst="rect">
            <a:avLst/>
          </a:prstGeom>
          <a:solidFill>
            <a:schemeClr val="accent1"/>
          </a:solidFill>
          <a:ln w="9525">
            <a:solidFill>
              <a:srgbClr val="1F4E5F"/>
            </a:solidFill>
            <a:prstDash val="solid"/>
          </a:ln>
        </p:spPr>
      </p:sp>
      <p:sp>
        <p:nvSpPr>
          <p:cNvPr id="23" name="Timeline 1-20"/>
          <p:cNvSpPr/>
          <p:nvPr/>
        </p:nvSpPr>
        <p:spPr>
          <a:xfrm>
            <a:off x="3323844" y="1618488"/>
            <a:ext cx="118872" cy="237744"/>
          </a:xfrm>
          <a:prstGeom prst="rect">
            <a:avLst/>
          </a:prstGeom>
          <a:solidFill>
            <a:schemeClr val="accent2"/>
          </a:solidFill>
          <a:ln w="9525">
            <a:solidFill>
              <a:srgbClr val="B8732A"/>
            </a:solidFill>
            <a:prstDash val="solid"/>
          </a:ln>
        </p:spPr>
      </p:sp>
      <p:sp>
        <p:nvSpPr>
          <p:cNvPr id="24" name="Timeline 1-21"/>
          <p:cNvSpPr/>
          <p:nvPr/>
        </p:nvSpPr>
        <p:spPr>
          <a:xfrm>
            <a:off x="3474720" y="1618488"/>
            <a:ext cx="118872" cy="237744"/>
          </a:xfrm>
          <a:prstGeom prst="rect">
            <a:avLst/>
          </a:prstGeom>
          <a:solidFill>
            <a:schemeClr val="accent1"/>
          </a:solidFill>
          <a:ln w="9525">
            <a:solidFill>
              <a:srgbClr val="1F4E5F"/>
            </a:solidFill>
            <a:prstDash val="solid"/>
          </a:ln>
        </p:spPr>
      </p:sp>
      <p:sp>
        <p:nvSpPr>
          <p:cNvPr id="25" name="Timeline 1-22"/>
          <p:cNvSpPr/>
          <p:nvPr/>
        </p:nvSpPr>
        <p:spPr>
          <a:xfrm>
            <a:off x="3625596" y="1618488"/>
            <a:ext cx="118872" cy="237744"/>
          </a:xfrm>
          <a:prstGeom prst="rect">
            <a:avLst/>
          </a:prstGeom>
          <a:solidFill>
            <a:schemeClr val="accent1"/>
          </a:solidFill>
          <a:ln w="9525">
            <a:solidFill>
              <a:srgbClr val="1F4E5F"/>
            </a:solidFill>
            <a:prstDash val="solid"/>
          </a:ln>
        </p:spPr>
      </p:sp>
      <p:sp>
        <p:nvSpPr>
          <p:cNvPr id="26" name="Timeline 1-23"/>
          <p:cNvSpPr/>
          <p:nvPr/>
        </p:nvSpPr>
        <p:spPr>
          <a:xfrm>
            <a:off x="3776472" y="1618488"/>
            <a:ext cx="118872" cy="237744"/>
          </a:xfrm>
          <a:prstGeom prst="rect">
            <a:avLst/>
          </a:prstGeom>
          <a:solidFill>
            <a:schemeClr val="accent2"/>
          </a:solidFill>
          <a:ln w="9525">
            <a:solidFill>
              <a:srgbClr val="B8732A"/>
            </a:solidFill>
            <a:prstDash val="solid"/>
          </a:ln>
        </p:spPr>
      </p:sp>
      <p:sp>
        <p:nvSpPr>
          <p:cNvPr id="27" name="Timeline 1-24"/>
          <p:cNvSpPr/>
          <p:nvPr/>
        </p:nvSpPr>
        <p:spPr>
          <a:xfrm>
            <a:off x="3927348" y="1618488"/>
            <a:ext cx="118872" cy="237744"/>
          </a:xfrm>
          <a:prstGeom prst="rect">
            <a:avLst/>
          </a:prstGeom>
          <a:solidFill>
            <a:schemeClr val="accent1"/>
          </a:solidFill>
          <a:ln w="9525">
            <a:solidFill>
              <a:srgbClr val="1F4E5F"/>
            </a:solidFill>
            <a:prstDash val="solid"/>
          </a:ln>
        </p:spPr>
      </p:sp>
      <p:sp>
        <p:nvSpPr>
          <p:cNvPr id="28" name="Text 26"/>
          <p:cNvSpPr txBox="1"/>
          <p:nvPr/>
        </p:nvSpPr>
        <p:spPr>
          <a:xfrm>
            <a:off x="4343400" y="1490472"/>
            <a:ext cx="4343400" cy="548640"/>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Test hours sit next to training hours, so it is optimistic (class paper)</a:t>
            </a:r>
            <a:endParaRPr lang="en-US" sz="1300" dirty="0"/>
          </a:p>
        </p:txBody>
      </p:sp>
      <p:sp>
        <p:nvSpPr>
          <p:cNvPr id="29" name="Text 27"/>
          <p:cNvSpPr txBox="1"/>
          <p:nvPr/>
        </p:nvSpPr>
        <p:spPr>
          <a:xfrm>
            <a:off x="457200" y="2194560"/>
            <a:ext cx="1828800" cy="320040"/>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Time-blocked</a:t>
            </a:r>
            <a:endParaRPr lang="en-US" sz="1400" dirty="0"/>
          </a:p>
        </p:txBody>
      </p:sp>
      <p:sp>
        <p:nvSpPr>
          <p:cNvPr id="30" name="Timeline 2-1"/>
          <p:cNvSpPr/>
          <p:nvPr/>
        </p:nvSpPr>
        <p:spPr>
          <a:xfrm>
            <a:off x="457200" y="2578608"/>
            <a:ext cx="118872" cy="237744"/>
          </a:xfrm>
          <a:prstGeom prst="rect">
            <a:avLst/>
          </a:prstGeom>
          <a:solidFill>
            <a:schemeClr val="accent1"/>
          </a:solidFill>
          <a:ln w="9525">
            <a:solidFill>
              <a:srgbClr val="1F4E5F"/>
            </a:solidFill>
            <a:prstDash val="solid"/>
          </a:ln>
        </p:spPr>
      </p:sp>
      <p:sp>
        <p:nvSpPr>
          <p:cNvPr id="31" name="Timeline 2-2"/>
          <p:cNvSpPr/>
          <p:nvPr/>
        </p:nvSpPr>
        <p:spPr>
          <a:xfrm>
            <a:off x="608076" y="2578608"/>
            <a:ext cx="118872" cy="237744"/>
          </a:xfrm>
          <a:prstGeom prst="rect">
            <a:avLst/>
          </a:prstGeom>
          <a:solidFill>
            <a:schemeClr val="accent1"/>
          </a:solidFill>
          <a:ln w="9525">
            <a:solidFill>
              <a:srgbClr val="1F4E5F"/>
            </a:solidFill>
            <a:prstDash val="solid"/>
          </a:ln>
        </p:spPr>
      </p:sp>
      <p:sp>
        <p:nvSpPr>
          <p:cNvPr id="32" name="Timeline 2-3"/>
          <p:cNvSpPr/>
          <p:nvPr/>
        </p:nvSpPr>
        <p:spPr>
          <a:xfrm>
            <a:off x="758952" y="2578608"/>
            <a:ext cx="118872" cy="237744"/>
          </a:xfrm>
          <a:prstGeom prst="rect">
            <a:avLst/>
          </a:prstGeom>
          <a:solidFill>
            <a:schemeClr val="accent1"/>
          </a:solidFill>
          <a:ln w="9525">
            <a:solidFill>
              <a:srgbClr val="1F4E5F"/>
            </a:solidFill>
            <a:prstDash val="solid"/>
          </a:ln>
        </p:spPr>
      </p:sp>
      <p:sp>
        <p:nvSpPr>
          <p:cNvPr id="33" name="Timeline 2-4"/>
          <p:cNvSpPr/>
          <p:nvPr/>
        </p:nvSpPr>
        <p:spPr>
          <a:xfrm>
            <a:off x="909828" y="2578608"/>
            <a:ext cx="118872" cy="237744"/>
          </a:xfrm>
          <a:prstGeom prst="rect">
            <a:avLst/>
          </a:prstGeom>
          <a:solidFill>
            <a:schemeClr val="accent1"/>
          </a:solidFill>
          <a:ln w="9525">
            <a:solidFill>
              <a:srgbClr val="1F4E5F"/>
            </a:solidFill>
            <a:prstDash val="solid"/>
          </a:ln>
        </p:spPr>
      </p:sp>
      <p:sp>
        <p:nvSpPr>
          <p:cNvPr id="34" name="Timeline 2-5"/>
          <p:cNvSpPr/>
          <p:nvPr/>
        </p:nvSpPr>
        <p:spPr>
          <a:xfrm>
            <a:off x="1060704" y="2578608"/>
            <a:ext cx="118872" cy="237744"/>
          </a:xfrm>
          <a:prstGeom prst="rect">
            <a:avLst/>
          </a:prstGeom>
          <a:solidFill>
            <a:schemeClr val="accent1"/>
          </a:solidFill>
          <a:ln w="9525">
            <a:solidFill>
              <a:srgbClr val="1F4E5F"/>
            </a:solidFill>
            <a:prstDash val="solid"/>
          </a:ln>
        </p:spPr>
      </p:sp>
      <p:sp>
        <p:nvSpPr>
          <p:cNvPr id="35" name="Timeline 2-6"/>
          <p:cNvSpPr/>
          <p:nvPr/>
        </p:nvSpPr>
        <p:spPr>
          <a:xfrm>
            <a:off x="1211580" y="2578608"/>
            <a:ext cx="118872" cy="237744"/>
          </a:xfrm>
          <a:prstGeom prst="rect">
            <a:avLst/>
          </a:prstGeom>
          <a:solidFill>
            <a:schemeClr val="accent1"/>
          </a:solidFill>
          <a:ln w="9525">
            <a:solidFill>
              <a:srgbClr val="1F4E5F"/>
            </a:solidFill>
            <a:prstDash val="solid"/>
          </a:ln>
        </p:spPr>
      </p:sp>
      <p:sp>
        <p:nvSpPr>
          <p:cNvPr id="36" name="Timeline 2-7"/>
          <p:cNvSpPr/>
          <p:nvPr/>
        </p:nvSpPr>
        <p:spPr>
          <a:xfrm>
            <a:off x="1362456" y="2578608"/>
            <a:ext cx="118872" cy="237744"/>
          </a:xfrm>
          <a:prstGeom prst="rect">
            <a:avLst/>
          </a:prstGeom>
          <a:solidFill>
            <a:schemeClr val="accent1"/>
          </a:solidFill>
          <a:ln w="9525">
            <a:solidFill>
              <a:srgbClr val="1F4E5F"/>
            </a:solidFill>
            <a:prstDash val="solid"/>
          </a:ln>
        </p:spPr>
      </p:sp>
      <p:sp>
        <p:nvSpPr>
          <p:cNvPr id="37" name="Timeline 2-8"/>
          <p:cNvSpPr/>
          <p:nvPr/>
        </p:nvSpPr>
        <p:spPr>
          <a:xfrm>
            <a:off x="1513332" y="2578608"/>
            <a:ext cx="118872" cy="237744"/>
          </a:xfrm>
          <a:prstGeom prst="rect">
            <a:avLst/>
          </a:prstGeom>
          <a:solidFill>
            <a:schemeClr val="accent1"/>
          </a:solidFill>
          <a:ln w="9525">
            <a:solidFill>
              <a:srgbClr val="1F4E5F"/>
            </a:solidFill>
            <a:prstDash val="solid"/>
          </a:ln>
        </p:spPr>
      </p:sp>
      <p:sp>
        <p:nvSpPr>
          <p:cNvPr id="38" name="Timeline 2-9"/>
          <p:cNvSpPr/>
          <p:nvPr/>
        </p:nvSpPr>
        <p:spPr>
          <a:xfrm>
            <a:off x="1664208" y="2578608"/>
            <a:ext cx="118872" cy="237744"/>
          </a:xfrm>
          <a:prstGeom prst="rect">
            <a:avLst/>
          </a:prstGeom>
          <a:solidFill>
            <a:schemeClr val="accent1"/>
          </a:solidFill>
          <a:ln w="9525">
            <a:solidFill>
              <a:srgbClr val="1F4E5F"/>
            </a:solidFill>
            <a:prstDash val="solid"/>
          </a:ln>
        </p:spPr>
      </p:sp>
      <p:sp>
        <p:nvSpPr>
          <p:cNvPr id="39" name="Timeline 2-10"/>
          <p:cNvSpPr/>
          <p:nvPr/>
        </p:nvSpPr>
        <p:spPr>
          <a:xfrm>
            <a:off x="1815084" y="2578608"/>
            <a:ext cx="118872" cy="237744"/>
          </a:xfrm>
          <a:prstGeom prst="rect">
            <a:avLst/>
          </a:prstGeom>
          <a:solidFill>
            <a:schemeClr val="bg1"/>
          </a:solidFill>
          <a:ln w="9525">
            <a:solidFill>
              <a:srgbClr val="D3DDE0"/>
            </a:solidFill>
            <a:prstDash val="solid"/>
          </a:ln>
        </p:spPr>
      </p:sp>
      <p:sp>
        <p:nvSpPr>
          <p:cNvPr id="40" name="Timeline 2-11"/>
          <p:cNvSpPr/>
          <p:nvPr/>
        </p:nvSpPr>
        <p:spPr>
          <a:xfrm>
            <a:off x="1965960" y="2578608"/>
            <a:ext cx="118872" cy="237744"/>
          </a:xfrm>
          <a:prstGeom prst="rect">
            <a:avLst/>
          </a:prstGeom>
          <a:solidFill>
            <a:schemeClr val="accent2"/>
          </a:solidFill>
          <a:ln w="9525">
            <a:solidFill>
              <a:srgbClr val="B8732A"/>
            </a:solidFill>
            <a:prstDash val="solid"/>
          </a:ln>
        </p:spPr>
      </p:sp>
      <p:sp>
        <p:nvSpPr>
          <p:cNvPr id="41" name="Timeline 2-12"/>
          <p:cNvSpPr/>
          <p:nvPr/>
        </p:nvSpPr>
        <p:spPr>
          <a:xfrm>
            <a:off x="2116836" y="2578608"/>
            <a:ext cx="118872" cy="237744"/>
          </a:xfrm>
          <a:prstGeom prst="rect">
            <a:avLst/>
          </a:prstGeom>
          <a:solidFill>
            <a:schemeClr val="accent2"/>
          </a:solidFill>
          <a:ln w="9525">
            <a:solidFill>
              <a:srgbClr val="B8732A"/>
            </a:solidFill>
            <a:prstDash val="solid"/>
          </a:ln>
        </p:spPr>
      </p:sp>
      <p:sp>
        <p:nvSpPr>
          <p:cNvPr id="42" name="Timeline 2-13"/>
          <p:cNvSpPr/>
          <p:nvPr/>
        </p:nvSpPr>
        <p:spPr>
          <a:xfrm>
            <a:off x="2267712" y="2578608"/>
            <a:ext cx="118872" cy="237744"/>
          </a:xfrm>
          <a:prstGeom prst="rect">
            <a:avLst/>
          </a:prstGeom>
          <a:solidFill>
            <a:schemeClr val="accent2"/>
          </a:solidFill>
          <a:ln w="9525">
            <a:solidFill>
              <a:srgbClr val="B8732A"/>
            </a:solidFill>
            <a:prstDash val="solid"/>
          </a:ln>
        </p:spPr>
      </p:sp>
      <p:sp>
        <p:nvSpPr>
          <p:cNvPr id="43" name="Timeline 2-14"/>
          <p:cNvSpPr/>
          <p:nvPr/>
        </p:nvSpPr>
        <p:spPr>
          <a:xfrm>
            <a:off x="2418588" y="2578608"/>
            <a:ext cx="118872" cy="237744"/>
          </a:xfrm>
          <a:prstGeom prst="rect">
            <a:avLst/>
          </a:prstGeom>
          <a:solidFill>
            <a:schemeClr val="accent2"/>
          </a:solidFill>
          <a:ln w="9525">
            <a:solidFill>
              <a:srgbClr val="B8732A"/>
            </a:solidFill>
            <a:prstDash val="solid"/>
          </a:ln>
        </p:spPr>
      </p:sp>
      <p:sp>
        <p:nvSpPr>
          <p:cNvPr id="44" name="Timeline 2-15"/>
          <p:cNvSpPr/>
          <p:nvPr/>
        </p:nvSpPr>
        <p:spPr>
          <a:xfrm>
            <a:off x="2569464" y="2578608"/>
            <a:ext cx="118872" cy="237744"/>
          </a:xfrm>
          <a:prstGeom prst="rect">
            <a:avLst/>
          </a:prstGeom>
          <a:solidFill>
            <a:schemeClr val="accent2"/>
          </a:solidFill>
          <a:ln w="9525">
            <a:solidFill>
              <a:srgbClr val="B8732A"/>
            </a:solidFill>
            <a:prstDash val="solid"/>
          </a:ln>
        </p:spPr>
      </p:sp>
      <p:sp>
        <p:nvSpPr>
          <p:cNvPr id="45" name="Timeline 2-16"/>
          <p:cNvSpPr/>
          <p:nvPr/>
        </p:nvSpPr>
        <p:spPr>
          <a:xfrm>
            <a:off x="2720340" y="2578608"/>
            <a:ext cx="118872" cy="237744"/>
          </a:xfrm>
          <a:prstGeom prst="rect">
            <a:avLst/>
          </a:prstGeom>
          <a:solidFill>
            <a:schemeClr val="accent2"/>
          </a:solidFill>
          <a:ln w="9525">
            <a:solidFill>
              <a:srgbClr val="B8732A"/>
            </a:solidFill>
            <a:prstDash val="solid"/>
          </a:ln>
        </p:spPr>
      </p:sp>
      <p:sp>
        <p:nvSpPr>
          <p:cNvPr id="46" name="Timeline 2-17"/>
          <p:cNvSpPr/>
          <p:nvPr/>
        </p:nvSpPr>
        <p:spPr>
          <a:xfrm>
            <a:off x="2871216" y="2578608"/>
            <a:ext cx="118872" cy="237744"/>
          </a:xfrm>
          <a:prstGeom prst="rect">
            <a:avLst/>
          </a:prstGeom>
          <a:solidFill>
            <a:schemeClr val="bg1"/>
          </a:solidFill>
          <a:ln w="9525">
            <a:solidFill>
              <a:srgbClr val="D3DDE0"/>
            </a:solidFill>
            <a:prstDash val="solid"/>
          </a:ln>
        </p:spPr>
      </p:sp>
      <p:sp>
        <p:nvSpPr>
          <p:cNvPr id="47" name="Timeline 2-18"/>
          <p:cNvSpPr/>
          <p:nvPr/>
        </p:nvSpPr>
        <p:spPr>
          <a:xfrm>
            <a:off x="3022092" y="2578608"/>
            <a:ext cx="118872" cy="237744"/>
          </a:xfrm>
          <a:prstGeom prst="rect">
            <a:avLst/>
          </a:prstGeom>
          <a:solidFill>
            <a:schemeClr val="accent1"/>
          </a:solidFill>
          <a:ln w="9525">
            <a:solidFill>
              <a:srgbClr val="1F4E5F"/>
            </a:solidFill>
            <a:prstDash val="solid"/>
          </a:ln>
        </p:spPr>
      </p:sp>
      <p:sp>
        <p:nvSpPr>
          <p:cNvPr id="48" name="Timeline 2-19"/>
          <p:cNvSpPr/>
          <p:nvPr/>
        </p:nvSpPr>
        <p:spPr>
          <a:xfrm>
            <a:off x="3172968" y="2578608"/>
            <a:ext cx="118872" cy="237744"/>
          </a:xfrm>
          <a:prstGeom prst="rect">
            <a:avLst/>
          </a:prstGeom>
          <a:solidFill>
            <a:schemeClr val="accent1"/>
          </a:solidFill>
          <a:ln w="9525">
            <a:solidFill>
              <a:srgbClr val="1F4E5F"/>
            </a:solidFill>
            <a:prstDash val="solid"/>
          </a:ln>
        </p:spPr>
      </p:sp>
      <p:sp>
        <p:nvSpPr>
          <p:cNvPr id="49" name="Timeline 2-20"/>
          <p:cNvSpPr/>
          <p:nvPr/>
        </p:nvSpPr>
        <p:spPr>
          <a:xfrm>
            <a:off x="3323844" y="2578608"/>
            <a:ext cx="118872" cy="237744"/>
          </a:xfrm>
          <a:prstGeom prst="rect">
            <a:avLst/>
          </a:prstGeom>
          <a:solidFill>
            <a:schemeClr val="accent1"/>
          </a:solidFill>
          <a:ln w="9525">
            <a:solidFill>
              <a:srgbClr val="1F4E5F"/>
            </a:solidFill>
            <a:prstDash val="solid"/>
          </a:ln>
        </p:spPr>
      </p:sp>
      <p:sp>
        <p:nvSpPr>
          <p:cNvPr id="50" name="Timeline 2-21"/>
          <p:cNvSpPr/>
          <p:nvPr/>
        </p:nvSpPr>
        <p:spPr>
          <a:xfrm>
            <a:off x="3474720" y="2578608"/>
            <a:ext cx="118872" cy="237744"/>
          </a:xfrm>
          <a:prstGeom prst="rect">
            <a:avLst/>
          </a:prstGeom>
          <a:solidFill>
            <a:schemeClr val="accent1"/>
          </a:solidFill>
          <a:ln w="9525">
            <a:solidFill>
              <a:srgbClr val="1F4E5F"/>
            </a:solidFill>
            <a:prstDash val="solid"/>
          </a:ln>
        </p:spPr>
      </p:sp>
      <p:sp>
        <p:nvSpPr>
          <p:cNvPr id="51" name="Timeline 2-22"/>
          <p:cNvSpPr/>
          <p:nvPr/>
        </p:nvSpPr>
        <p:spPr>
          <a:xfrm>
            <a:off x="3625596" y="2578608"/>
            <a:ext cx="118872" cy="237744"/>
          </a:xfrm>
          <a:prstGeom prst="rect">
            <a:avLst/>
          </a:prstGeom>
          <a:solidFill>
            <a:schemeClr val="accent1"/>
          </a:solidFill>
          <a:ln w="9525">
            <a:solidFill>
              <a:srgbClr val="1F4E5F"/>
            </a:solidFill>
            <a:prstDash val="solid"/>
          </a:ln>
        </p:spPr>
      </p:sp>
      <p:sp>
        <p:nvSpPr>
          <p:cNvPr id="52" name="Timeline 2-23"/>
          <p:cNvSpPr/>
          <p:nvPr/>
        </p:nvSpPr>
        <p:spPr>
          <a:xfrm>
            <a:off x="3776472" y="2578608"/>
            <a:ext cx="118872" cy="237744"/>
          </a:xfrm>
          <a:prstGeom prst="rect">
            <a:avLst/>
          </a:prstGeom>
          <a:solidFill>
            <a:schemeClr val="accent1"/>
          </a:solidFill>
          <a:ln w="9525">
            <a:solidFill>
              <a:srgbClr val="1F4E5F"/>
            </a:solidFill>
            <a:prstDash val="solid"/>
          </a:ln>
        </p:spPr>
      </p:sp>
      <p:sp>
        <p:nvSpPr>
          <p:cNvPr id="53" name="Timeline 2-24"/>
          <p:cNvSpPr/>
          <p:nvPr/>
        </p:nvSpPr>
        <p:spPr>
          <a:xfrm>
            <a:off x="3927348" y="2578608"/>
            <a:ext cx="118872" cy="237744"/>
          </a:xfrm>
          <a:prstGeom prst="rect">
            <a:avLst/>
          </a:prstGeom>
          <a:solidFill>
            <a:schemeClr val="accent1"/>
          </a:solidFill>
          <a:ln w="9525">
            <a:solidFill>
              <a:srgbClr val="1F4E5F"/>
            </a:solidFill>
            <a:prstDash val="solid"/>
          </a:ln>
        </p:spPr>
      </p:sp>
      <p:sp>
        <p:nvSpPr>
          <p:cNvPr id="54" name="Text 52"/>
          <p:cNvSpPr txBox="1"/>
          <p:nvPr/>
        </p:nvSpPr>
        <p:spPr>
          <a:xfrm>
            <a:off x="4343400" y="2450592"/>
            <a:ext cx="4343400" cy="548640"/>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Whole multi-day stretches held out with a 12 h gap. Honest forecast test (ours)</a:t>
            </a:r>
            <a:endParaRPr lang="en-US" sz="1300" dirty="0"/>
          </a:p>
        </p:txBody>
      </p:sp>
      <p:sp>
        <p:nvSpPr>
          <p:cNvPr id="55" name="Text 53"/>
          <p:cNvSpPr txBox="1"/>
          <p:nvPr/>
        </p:nvSpPr>
        <p:spPr>
          <a:xfrm>
            <a:off x="457200" y="3154680"/>
            <a:ext cx="1828800" cy="320040"/>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Leave one season out</a:t>
            </a:r>
            <a:endParaRPr lang="en-US" sz="1400" dirty="0"/>
          </a:p>
        </p:txBody>
      </p:sp>
      <p:sp>
        <p:nvSpPr>
          <p:cNvPr id="56" name="Timeline 3-1"/>
          <p:cNvSpPr/>
          <p:nvPr/>
        </p:nvSpPr>
        <p:spPr>
          <a:xfrm>
            <a:off x="457200" y="3538728"/>
            <a:ext cx="118872" cy="237744"/>
          </a:xfrm>
          <a:prstGeom prst="rect">
            <a:avLst/>
          </a:prstGeom>
          <a:solidFill>
            <a:schemeClr val="accent1"/>
          </a:solidFill>
          <a:ln w="9525">
            <a:solidFill>
              <a:srgbClr val="1F4E5F"/>
            </a:solidFill>
            <a:prstDash val="solid"/>
          </a:ln>
        </p:spPr>
      </p:sp>
      <p:sp>
        <p:nvSpPr>
          <p:cNvPr id="57" name="Timeline 3-2"/>
          <p:cNvSpPr/>
          <p:nvPr/>
        </p:nvSpPr>
        <p:spPr>
          <a:xfrm>
            <a:off x="608076" y="3538728"/>
            <a:ext cx="118872" cy="237744"/>
          </a:xfrm>
          <a:prstGeom prst="rect">
            <a:avLst/>
          </a:prstGeom>
          <a:solidFill>
            <a:schemeClr val="accent1"/>
          </a:solidFill>
          <a:ln w="9525">
            <a:solidFill>
              <a:srgbClr val="1F4E5F"/>
            </a:solidFill>
            <a:prstDash val="solid"/>
          </a:ln>
        </p:spPr>
      </p:sp>
      <p:sp>
        <p:nvSpPr>
          <p:cNvPr id="58" name="Timeline 3-3"/>
          <p:cNvSpPr/>
          <p:nvPr/>
        </p:nvSpPr>
        <p:spPr>
          <a:xfrm>
            <a:off x="758952" y="3538728"/>
            <a:ext cx="118872" cy="237744"/>
          </a:xfrm>
          <a:prstGeom prst="rect">
            <a:avLst/>
          </a:prstGeom>
          <a:solidFill>
            <a:schemeClr val="accent1"/>
          </a:solidFill>
          <a:ln w="9525">
            <a:solidFill>
              <a:srgbClr val="1F4E5F"/>
            </a:solidFill>
            <a:prstDash val="solid"/>
          </a:ln>
        </p:spPr>
      </p:sp>
      <p:sp>
        <p:nvSpPr>
          <p:cNvPr id="59" name="Timeline 3-4"/>
          <p:cNvSpPr/>
          <p:nvPr/>
        </p:nvSpPr>
        <p:spPr>
          <a:xfrm>
            <a:off x="909828" y="3538728"/>
            <a:ext cx="118872" cy="237744"/>
          </a:xfrm>
          <a:prstGeom prst="rect">
            <a:avLst/>
          </a:prstGeom>
          <a:solidFill>
            <a:schemeClr val="accent1"/>
          </a:solidFill>
          <a:ln w="9525">
            <a:solidFill>
              <a:srgbClr val="1F4E5F"/>
            </a:solidFill>
            <a:prstDash val="solid"/>
          </a:ln>
        </p:spPr>
      </p:sp>
      <p:sp>
        <p:nvSpPr>
          <p:cNvPr id="60" name="Timeline 3-5"/>
          <p:cNvSpPr/>
          <p:nvPr/>
        </p:nvSpPr>
        <p:spPr>
          <a:xfrm>
            <a:off x="1060704" y="3538728"/>
            <a:ext cx="118872" cy="237744"/>
          </a:xfrm>
          <a:prstGeom prst="rect">
            <a:avLst/>
          </a:prstGeom>
          <a:solidFill>
            <a:schemeClr val="accent1"/>
          </a:solidFill>
          <a:ln w="9525">
            <a:solidFill>
              <a:srgbClr val="1F4E5F"/>
            </a:solidFill>
            <a:prstDash val="solid"/>
          </a:ln>
        </p:spPr>
      </p:sp>
      <p:sp>
        <p:nvSpPr>
          <p:cNvPr id="61" name="Timeline 3-6"/>
          <p:cNvSpPr/>
          <p:nvPr/>
        </p:nvSpPr>
        <p:spPr>
          <a:xfrm>
            <a:off x="1211580" y="3538728"/>
            <a:ext cx="118872" cy="237744"/>
          </a:xfrm>
          <a:prstGeom prst="rect">
            <a:avLst/>
          </a:prstGeom>
          <a:solidFill>
            <a:schemeClr val="accent1"/>
          </a:solidFill>
          <a:ln w="9525">
            <a:solidFill>
              <a:srgbClr val="1F4E5F"/>
            </a:solidFill>
            <a:prstDash val="solid"/>
          </a:ln>
        </p:spPr>
      </p:sp>
      <p:sp>
        <p:nvSpPr>
          <p:cNvPr id="62" name="Timeline 3-7"/>
          <p:cNvSpPr/>
          <p:nvPr/>
        </p:nvSpPr>
        <p:spPr>
          <a:xfrm>
            <a:off x="1362456" y="3538728"/>
            <a:ext cx="118872" cy="237744"/>
          </a:xfrm>
          <a:prstGeom prst="rect">
            <a:avLst/>
          </a:prstGeom>
          <a:solidFill>
            <a:schemeClr val="accent1"/>
          </a:solidFill>
          <a:ln w="9525">
            <a:solidFill>
              <a:srgbClr val="1F4E5F"/>
            </a:solidFill>
            <a:prstDash val="solid"/>
          </a:ln>
        </p:spPr>
      </p:sp>
      <p:sp>
        <p:nvSpPr>
          <p:cNvPr id="63" name="Timeline 3-8"/>
          <p:cNvSpPr/>
          <p:nvPr/>
        </p:nvSpPr>
        <p:spPr>
          <a:xfrm>
            <a:off x="1513332" y="3538728"/>
            <a:ext cx="118872" cy="237744"/>
          </a:xfrm>
          <a:prstGeom prst="rect">
            <a:avLst/>
          </a:prstGeom>
          <a:solidFill>
            <a:schemeClr val="accent1"/>
          </a:solidFill>
          <a:ln w="9525">
            <a:solidFill>
              <a:srgbClr val="1F4E5F"/>
            </a:solidFill>
            <a:prstDash val="solid"/>
          </a:ln>
        </p:spPr>
      </p:sp>
      <p:sp>
        <p:nvSpPr>
          <p:cNvPr id="64" name="Timeline 3-9"/>
          <p:cNvSpPr/>
          <p:nvPr/>
        </p:nvSpPr>
        <p:spPr>
          <a:xfrm>
            <a:off x="1755648" y="3538728"/>
            <a:ext cx="118872" cy="237744"/>
          </a:xfrm>
          <a:prstGeom prst="rect">
            <a:avLst/>
          </a:prstGeom>
          <a:solidFill>
            <a:schemeClr val="accent1"/>
          </a:solidFill>
          <a:ln w="9525">
            <a:solidFill>
              <a:srgbClr val="1F4E5F"/>
            </a:solidFill>
            <a:prstDash val="solid"/>
          </a:ln>
        </p:spPr>
      </p:sp>
      <p:sp>
        <p:nvSpPr>
          <p:cNvPr id="65" name="Timeline 3-10"/>
          <p:cNvSpPr/>
          <p:nvPr/>
        </p:nvSpPr>
        <p:spPr>
          <a:xfrm>
            <a:off x="1906524" y="3538728"/>
            <a:ext cx="118872" cy="237744"/>
          </a:xfrm>
          <a:prstGeom prst="rect">
            <a:avLst/>
          </a:prstGeom>
          <a:solidFill>
            <a:schemeClr val="accent1"/>
          </a:solidFill>
          <a:ln w="9525">
            <a:solidFill>
              <a:srgbClr val="1F4E5F"/>
            </a:solidFill>
            <a:prstDash val="solid"/>
          </a:ln>
        </p:spPr>
      </p:sp>
      <p:sp>
        <p:nvSpPr>
          <p:cNvPr id="66" name="Timeline 3-11"/>
          <p:cNvSpPr/>
          <p:nvPr/>
        </p:nvSpPr>
        <p:spPr>
          <a:xfrm>
            <a:off x="2057400" y="3538728"/>
            <a:ext cx="118872" cy="237744"/>
          </a:xfrm>
          <a:prstGeom prst="rect">
            <a:avLst/>
          </a:prstGeom>
          <a:solidFill>
            <a:schemeClr val="accent1"/>
          </a:solidFill>
          <a:ln w="9525">
            <a:solidFill>
              <a:srgbClr val="1F4E5F"/>
            </a:solidFill>
            <a:prstDash val="solid"/>
          </a:ln>
        </p:spPr>
      </p:sp>
      <p:sp>
        <p:nvSpPr>
          <p:cNvPr id="67" name="Timeline 3-12"/>
          <p:cNvSpPr/>
          <p:nvPr/>
        </p:nvSpPr>
        <p:spPr>
          <a:xfrm>
            <a:off x="2208276" y="3538728"/>
            <a:ext cx="118872" cy="237744"/>
          </a:xfrm>
          <a:prstGeom prst="rect">
            <a:avLst/>
          </a:prstGeom>
          <a:solidFill>
            <a:schemeClr val="accent1"/>
          </a:solidFill>
          <a:ln w="9525">
            <a:solidFill>
              <a:srgbClr val="1F4E5F"/>
            </a:solidFill>
            <a:prstDash val="solid"/>
          </a:ln>
        </p:spPr>
      </p:sp>
      <p:sp>
        <p:nvSpPr>
          <p:cNvPr id="68" name="Timeline 3-13"/>
          <p:cNvSpPr/>
          <p:nvPr/>
        </p:nvSpPr>
        <p:spPr>
          <a:xfrm>
            <a:off x="2359152" y="3538728"/>
            <a:ext cx="118872" cy="237744"/>
          </a:xfrm>
          <a:prstGeom prst="rect">
            <a:avLst/>
          </a:prstGeom>
          <a:solidFill>
            <a:schemeClr val="accent1"/>
          </a:solidFill>
          <a:ln w="9525">
            <a:solidFill>
              <a:srgbClr val="1F4E5F"/>
            </a:solidFill>
            <a:prstDash val="solid"/>
          </a:ln>
        </p:spPr>
      </p:sp>
      <p:sp>
        <p:nvSpPr>
          <p:cNvPr id="69" name="Timeline 3-14"/>
          <p:cNvSpPr/>
          <p:nvPr/>
        </p:nvSpPr>
        <p:spPr>
          <a:xfrm>
            <a:off x="2510028" y="3538728"/>
            <a:ext cx="118872" cy="237744"/>
          </a:xfrm>
          <a:prstGeom prst="rect">
            <a:avLst/>
          </a:prstGeom>
          <a:solidFill>
            <a:schemeClr val="accent1"/>
          </a:solidFill>
          <a:ln w="9525">
            <a:solidFill>
              <a:srgbClr val="1F4E5F"/>
            </a:solidFill>
            <a:prstDash val="solid"/>
          </a:ln>
        </p:spPr>
      </p:sp>
      <p:sp>
        <p:nvSpPr>
          <p:cNvPr id="70" name="Timeline 3-15"/>
          <p:cNvSpPr/>
          <p:nvPr/>
        </p:nvSpPr>
        <p:spPr>
          <a:xfrm>
            <a:off x="2660904" y="3538728"/>
            <a:ext cx="118872" cy="237744"/>
          </a:xfrm>
          <a:prstGeom prst="rect">
            <a:avLst/>
          </a:prstGeom>
          <a:solidFill>
            <a:schemeClr val="accent1"/>
          </a:solidFill>
          <a:ln w="9525">
            <a:solidFill>
              <a:srgbClr val="1F4E5F"/>
            </a:solidFill>
            <a:prstDash val="solid"/>
          </a:ln>
        </p:spPr>
      </p:sp>
      <p:sp>
        <p:nvSpPr>
          <p:cNvPr id="71" name="Timeline 3-16"/>
          <p:cNvSpPr/>
          <p:nvPr/>
        </p:nvSpPr>
        <p:spPr>
          <a:xfrm>
            <a:off x="2811780" y="3538728"/>
            <a:ext cx="118872" cy="237744"/>
          </a:xfrm>
          <a:prstGeom prst="rect">
            <a:avLst/>
          </a:prstGeom>
          <a:solidFill>
            <a:schemeClr val="accent1"/>
          </a:solidFill>
          <a:ln w="9525">
            <a:solidFill>
              <a:srgbClr val="1F4E5F"/>
            </a:solidFill>
            <a:prstDash val="solid"/>
          </a:ln>
        </p:spPr>
      </p:sp>
      <p:sp>
        <p:nvSpPr>
          <p:cNvPr id="72" name="Timeline 3-17"/>
          <p:cNvSpPr/>
          <p:nvPr/>
        </p:nvSpPr>
        <p:spPr>
          <a:xfrm>
            <a:off x="3054096" y="3538728"/>
            <a:ext cx="118872" cy="237744"/>
          </a:xfrm>
          <a:prstGeom prst="rect">
            <a:avLst/>
          </a:prstGeom>
          <a:solidFill>
            <a:schemeClr val="accent2"/>
          </a:solidFill>
          <a:ln w="9525">
            <a:solidFill>
              <a:srgbClr val="B8732A"/>
            </a:solidFill>
            <a:prstDash val="solid"/>
          </a:ln>
        </p:spPr>
      </p:sp>
      <p:sp>
        <p:nvSpPr>
          <p:cNvPr id="73" name="Timeline 3-18"/>
          <p:cNvSpPr/>
          <p:nvPr/>
        </p:nvSpPr>
        <p:spPr>
          <a:xfrm>
            <a:off x="3204972" y="3538728"/>
            <a:ext cx="118872" cy="237744"/>
          </a:xfrm>
          <a:prstGeom prst="rect">
            <a:avLst/>
          </a:prstGeom>
          <a:solidFill>
            <a:schemeClr val="accent2"/>
          </a:solidFill>
          <a:ln w="9525">
            <a:solidFill>
              <a:srgbClr val="B8732A"/>
            </a:solidFill>
            <a:prstDash val="solid"/>
          </a:ln>
        </p:spPr>
      </p:sp>
      <p:sp>
        <p:nvSpPr>
          <p:cNvPr id="74" name="Timeline 3-19"/>
          <p:cNvSpPr/>
          <p:nvPr/>
        </p:nvSpPr>
        <p:spPr>
          <a:xfrm>
            <a:off x="3355848" y="3538728"/>
            <a:ext cx="118872" cy="237744"/>
          </a:xfrm>
          <a:prstGeom prst="rect">
            <a:avLst/>
          </a:prstGeom>
          <a:solidFill>
            <a:schemeClr val="accent2"/>
          </a:solidFill>
          <a:ln w="9525">
            <a:solidFill>
              <a:srgbClr val="B8732A"/>
            </a:solidFill>
            <a:prstDash val="solid"/>
          </a:ln>
        </p:spPr>
      </p:sp>
      <p:sp>
        <p:nvSpPr>
          <p:cNvPr id="75" name="Timeline 3-20"/>
          <p:cNvSpPr/>
          <p:nvPr/>
        </p:nvSpPr>
        <p:spPr>
          <a:xfrm>
            <a:off x="3506724" y="3538728"/>
            <a:ext cx="118872" cy="237744"/>
          </a:xfrm>
          <a:prstGeom prst="rect">
            <a:avLst/>
          </a:prstGeom>
          <a:solidFill>
            <a:schemeClr val="accent2"/>
          </a:solidFill>
          <a:ln w="9525">
            <a:solidFill>
              <a:srgbClr val="B8732A"/>
            </a:solidFill>
            <a:prstDash val="solid"/>
          </a:ln>
        </p:spPr>
      </p:sp>
      <p:sp>
        <p:nvSpPr>
          <p:cNvPr id="76" name="Timeline 3-21"/>
          <p:cNvSpPr/>
          <p:nvPr/>
        </p:nvSpPr>
        <p:spPr>
          <a:xfrm>
            <a:off x="3657600" y="3538728"/>
            <a:ext cx="118872" cy="237744"/>
          </a:xfrm>
          <a:prstGeom prst="rect">
            <a:avLst/>
          </a:prstGeom>
          <a:solidFill>
            <a:schemeClr val="accent2"/>
          </a:solidFill>
          <a:ln w="9525">
            <a:solidFill>
              <a:srgbClr val="B8732A"/>
            </a:solidFill>
            <a:prstDash val="solid"/>
          </a:ln>
        </p:spPr>
      </p:sp>
      <p:sp>
        <p:nvSpPr>
          <p:cNvPr id="77" name="Timeline 3-22"/>
          <p:cNvSpPr/>
          <p:nvPr/>
        </p:nvSpPr>
        <p:spPr>
          <a:xfrm>
            <a:off x="3808476" y="3538728"/>
            <a:ext cx="118872" cy="237744"/>
          </a:xfrm>
          <a:prstGeom prst="rect">
            <a:avLst/>
          </a:prstGeom>
          <a:solidFill>
            <a:schemeClr val="accent2"/>
          </a:solidFill>
          <a:ln w="9525">
            <a:solidFill>
              <a:srgbClr val="B8732A"/>
            </a:solidFill>
            <a:prstDash val="solid"/>
          </a:ln>
        </p:spPr>
      </p:sp>
      <p:sp>
        <p:nvSpPr>
          <p:cNvPr id="78" name="Timeline 3-23"/>
          <p:cNvSpPr/>
          <p:nvPr/>
        </p:nvSpPr>
        <p:spPr>
          <a:xfrm>
            <a:off x="3959352" y="3538728"/>
            <a:ext cx="118872" cy="237744"/>
          </a:xfrm>
          <a:prstGeom prst="rect">
            <a:avLst/>
          </a:prstGeom>
          <a:solidFill>
            <a:schemeClr val="accent2"/>
          </a:solidFill>
          <a:ln w="9525">
            <a:solidFill>
              <a:srgbClr val="B8732A"/>
            </a:solidFill>
            <a:prstDash val="solid"/>
          </a:ln>
        </p:spPr>
      </p:sp>
      <p:sp>
        <p:nvSpPr>
          <p:cNvPr id="79" name="Timeline 3-24"/>
          <p:cNvSpPr/>
          <p:nvPr/>
        </p:nvSpPr>
        <p:spPr>
          <a:xfrm>
            <a:off x="4110228" y="3538728"/>
            <a:ext cx="118872" cy="237744"/>
          </a:xfrm>
          <a:prstGeom prst="rect">
            <a:avLst/>
          </a:prstGeom>
          <a:solidFill>
            <a:schemeClr val="accent2"/>
          </a:solidFill>
          <a:ln w="9525">
            <a:solidFill>
              <a:srgbClr val="B8732A"/>
            </a:solidFill>
            <a:prstDash val="solid"/>
          </a:ln>
        </p:spPr>
      </p:sp>
      <p:sp>
        <p:nvSpPr>
          <p:cNvPr id="80" name="Text 78"/>
          <p:cNvSpPr txBox="1"/>
          <p:nvPr/>
        </p:nvSpPr>
        <p:spPr>
          <a:xfrm>
            <a:off x="4343400" y="3410712"/>
            <a:ext cx="4343400" cy="548640"/>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Train on two seasons, predict the third. New-conditions test (ours)</a:t>
            </a:r>
            <a:endParaRPr lang="en-US" sz="1300" dirty="0"/>
          </a:p>
        </p:txBody>
      </p:sp>
      <p:sp>
        <p:nvSpPr>
          <p:cNvPr id="81" name="Legend Training hour"/>
          <p:cNvSpPr/>
          <p:nvPr/>
        </p:nvSpPr>
        <p:spPr>
          <a:xfrm>
            <a:off x="457200" y="4251960"/>
            <a:ext cx="164592" cy="164592"/>
          </a:xfrm>
          <a:prstGeom prst="rect">
            <a:avLst/>
          </a:prstGeom>
          <a:solidFill>
            <a:schemeClr val="accent1"/>
          </a:solidFill>
          <a:ln w="9525">
            <a:solidFill>
              <a:srgbClr val="1F4E5F"/>
            </a:solidFill>
            <a:prstDash val="solid"/>
          </a:ln>
        </p:spPr>
      </p:sp>
      <p:sp>
        <p:nvSpPr>
          <p:cNvPr id="82" name="Text 80"/>
          <p:cNvSpPr txBox="1"/>
          <p:nvPr/>
        </p:nvSpPr>
        <p:spPr>
          <a:xfrm>
            <a:off x="704088" y="4206240"/>
            <a:ext cx="1280160" cy="27432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Training hour</a:t>
            </a:r>
            <a:endParaRPr lang="en-US" sz="1200" dirty="0"/>
          </a:p>
        </p:txBody>
      </p:sp>
      <p:sp>
        <p:nvSpPr>
          <p:cNvPr id="83" name="Legend Test hour"/>
          <p:cNvSpPr/>
          <p:nvPr/>
        </p:nvSpPr>
        <p:spPr>
          <a:xfrm>
            <a:off x="2057400" y="4251960"/>
            <a:ext cx="164592" cy="164592"/>
          </a:xfrm>
          <a:prstGeom prst="rect">
            <a:avLst/>
          </a:prstGeom>
          <a:solidFill>
            <a:schemeClr val="accent2"/>
          </a:solidFill>
          <a:ln w="9525">
            <a:solidFill>
              <a:srgbClr val="B8732A"/>
            </a:solidFill>
            <a:prstDash val="solid"/>
          </a:ln>
        </p:spPr>
      </p:sp>
      <p:sp>
        <p:nvSpPr>
          <p:cNvPr id="84" name="Text 82"/>
          <p:cNvSpPr txBox="1"/>
          <p:nvPr/>
        </p:nvSpPr>
        <p:spPr>
          <a:xfrm>
            <a:off x="2304288" y="4206240"/>
            <a:ext cx="1280160" cy="27432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Test hour</a:t>
            </a:r>
            <a:endParaRPr lang="en-US" sz="1200" dirty="0"/>
          </a:p>
        </p:txBody>
      </p:sp>
      <p:sp>
        <p:nvSpPr>
          <p:cNvPr id="85" name="Legend Gap (unused)"/>
          <p:cNvSpPr/>
          <p:nvPr/>
        </p:nvSpPr>
        <p:spPr>
          <a:xfrm>
            <a:off x="3657600" y="4251960"/>
            <a:ext cx="164592" cy="164592"/>
          </a:xfrm>
          <a:prstGeom prst="rect">
            <a:avLst/>
          </a:prstGeom>
          <a:solidFill>
            <a:schemeClr val="bg1"/>
          </a:solidFill>
          <a:ln w="9525">
            <a:solidFill>
              <a:srgbClr val="D3DDE0"/>
            </a:solidFill>
            <a:prstDash val="solid"/>
          </a:ln>
        </p:spPr>
      </p:sp>
      <p:sp>
        <p:nvSpPr>
          <p:cNvPr id="86" name="Text 84"/>
          <p:cNvSpPr txBox="1"/>
          <p:nvPr/>
        </p:nvSpPr>
        <p:spPr>
          <a:xfrm>
            <a:off x="3904488" y="4206240"/>
            <a:ext cx="1280160" cy="27432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Gap (unused)</a:t>
            </a:r>
            <a:endParaRPr lang="en-US" sz="1200" dirty="0"/>
          </a:p>
        </p:txBody>
      </p:sp>
      <p:sp>
        <p:nvSpPr>
          <p:cNvPr id="87" name="Text 85"/>
          <p:cNvSpPr txBox="1"/>
          <p:nvPr/>
        </p:nvSpPr>
        <p:spPr>
          <a:xfrm>
            <a:off x="5257800" y="4160520"/>
            <a:ext cx="3429000" cy="502920"/>
          </a:xfrm>
          <a:prstGeom prst="rect">
            <a:avLst/>
          </a:prstGeom>
          <a:noFill/>
          <a:ln/>
        </p:spPr>
        <p:txBody>
          <a:bodyPr wrap="square" lIns="0" tIns="0" rIns="0" bIns="0" rtlCol="0" anchor="t"/>
          <a:lstStyle/>
          <a:p>
            <a:pPr indent="0" marL="0">
              <a:spcAft>
                <a:spcPts val="400"/>
              </a:spcAft>
              <a:buNone/>
            </a:pPr>
            <a:r>
              <a:rPr lang="en-US" sz="1200" b="1" dirty="0">
                <a:solidFill>
                  <a:srgbClr val="5E6B72"/>
                </a:solidFill>
              </a:rPr>
              <a:t>Score r²: </a:t>
            </a:r>
            <a:pPr indent="0" marL="0">
              <a:spcAft>
                <a:spcPts val="400"/>
              </a:spcAft>
              <a:buNone/>
            </a:pPr>
            <a:r>
              <a:rPr lang="en-US" sz="1200" dirty="0">
                <a:solidFill>
                  <a:srgbClr val="5E6B72"/>
                </a:solidFill>
              </a:rPr>
              <a:t>1 = perfect, 0 = no better than guessing the average, below 0 = worse than that.</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Results: how accurate is it</a:t>
            </a:r>
            <a:endParaRPr lang="en-US" sz="3000" dirty="0"/>
          </a:p>
        </p:txBody>
      </p:sp>
      <p:sp>
        <p:nvSpPr>
          <p:cNvPr id="3" name="Text 1"/>
          <p:cNvSpPr txBox="1"/>
          <p:nvPr/>
        </p:nvSpPr>
        <p:spPr>
          <a:xfrm>
            <a:off x="457200" y="1143000"/>
            <a:ext cx="5394960" cy="274320"/>
          </a:xfrm>
          <a:prstGeom prst="rect">
            <a:avLst/>
          </a:prstGeom>
          <a:noFill/>
          <a:ln/>
        </p:spPr>
        <p:txBody>
          <a:bodyPr wrap="square" lIns="0" tIns="0" rIns="0" bIns="0" rtlCol="0" anchor="t"/>
          <a:lstStyle/>
          <a:p>
            <a:pPr indent="0" marL="0">
              <a:spcAft>
                <a:spcPts val="400"/>
              </a:spcAft>
              <a:buNone/>
            </a:pPr>
            <a:r>
              <a:rPr lang="en-US" sz="1200" b="1" dirty="0">
                <a:solidFill>
                  <a:schemeClr val="tx2"/>
                </a:solidFill>
              </a:rPr>
              <a:t>Share of floc-size variation explained (r²)</a:t>
            </a:r>
            <a:endParaRPr lang="en-US" sz="1200" dirty="0"/>
          </a:p>
        </p:txBody>
      </p:sp>
      <p:sp>
        <p:nvSpPr>
          <p:cNvPr id="4" name="Accuracy chart zero line"/>
          <p:cNvSpPr/>
          <p:nvPr/>
        </p:nvSpPr>
        <p:spPr>
          <a:xfrm>
            <a:off x="3291840" y="1508760"/>
            <a:ext cx="0" cy="3017520"/>
          </a:xfrm>
          <a:prstGeom prst="line">
            <a:avLst/>
          </a:prstGeom>
          <a:noFill/>
          <a:ln w="12700">
            <a:solidFill>
              <a:srgbClr val="5E6B72"/>
            </a:solidFill>
            <a:prstDash val="solid"/>
          </a:ln>
        </p:spPr>
      </p:sp>
      <p:sp>
        <p:nvSpPr>
          <p:cNvPr id="5" name="Text 3"/>
          <p:cNvSpPr txBox="1"/>
          <p:nvPr/>
        </p:nvSpPr>
        <p:spPr>
          <a:xfrm>
            <a:off x="457200" y="1508760"/>
            <a:ext cx="2331720" cy="603504"/>
          </a:xfrm>
          <a:prstGeom prst="rect">
            <a:avLst/>
          </a:prstGeom>
          <a:noFill/>
          <a:ln/>
        </p:spPr>
        <p:txBody>
          <a:bodyPr wrap="square" lIns="0" tIns="0" rIns="0" bIns="0" rtlCol="0" anchor="ctr"/>
          <a:lstStyle/>
          <a:p>
            <a:pPr algn="r" indent="0" marL="0">
              <a:spcAft>
                <a:spcPts val="400"/>
              </a:spcAft>
              <a:buNone/>
            </a:pPr>
            <a:r>
              <a:rPr lang="en-US" sz="1200" dirty="0">
                <a:solidFill>
                  <a:schemeClr val="tx1"/>
                </a:solidFill>
              </a:rPr>
              <a:t>Class paper, reported (random split)</a:t>
            </a:r>
            <a:endParaRPr lang="en-US" sz="1200" dirty="0"/>
          </a:p>
        </p:txBody>
      </p:sp>
      <p:sp>
        <p:nvSpPr>
          <p:cNvPr id="6" name="Accuracy chart bar 1"/>
          <p:cNvSpPr/>
          <p:nvPr/>
        </p:nvSpPr>
        <p:spPr>
          <a:xfrm>
            <a:off x="3291840" y="1645920"/>
            <a:ext cx="1666494" cy="329184"/>
          </a:xfrm>
          <a:prstGeom prst="rect">
            <a:avLst/>
          </a:prstGeom>
          <a:solidFill>
            <a:schemeClr val="accent5"/>
          </a:solidFill>
          <a:ln w="12700">
            <a:solidFill>
              <a:schemeClr val="accent5"/>
            </a:solidFill>
            <a:prstDash val="solid"/>
          </a:ln>
        </p:spPr>
      </p:sp>
      <p:sp>
        <p:nvSpPr>
          <p:cNvPr id="7" name="Text 5"/>
          <p:cNvSpPr txBox="1"/>
          <p:nvPr/>
        </p:nvSpPr>
        <p:spPr>
          <a:xfrm>
            <a:off x="5013198" y="1508760"/>
            <a:ext cx="502920" cy="603504"/>
          </a:xfrm>
          <a:prstGeom prst="rect">
            <a:avLst/>
          </a:prstGeom>
          <a:noFill/>
          <a:ln/>
        </p:spPr>
        <p:txBody>
          <a:bodyPr wrap="square" lIns="0" tIns="0" rIns="0" bIns="0" rtlCol="0" anchor="ctr"/>
          <a:lstStyle/>
          <a:p>
            <a:pPr indent="0" marL="0">
              <a:spcAft>
                <a:spcPts val="400"/>
              </a:spcAft>
              <a:buNone/>
            </a:pPr>
            <a:r>
              <a:rPr lang="en-US" sz="1200" b="1" dirty="0">
                <a:solidFill>
                  <a:schemeClr val="tx1"/>
                </a:solidFill>
              </a:rPr>
              <a:t>0.81</a:t>
            </a:r>
            <a:endParaRPr lang="en-US" sz="1200" dirty="0"/>
          </a:p>
        </p:txBody>
      </p:sp>
      <p:sp>
        <p:nvSpPr>
          <p:cNvPr id="8" name="Text 6"/>
          <p:cNvSpPr txBox="1"/>
          <p:nvPr/>
        </p:nvSpPr>
        <p:spPr>
          <a:xfrm>
            <a:off x="457200" y="2112264"/>
            <a:ext cx="2331720" cy="603504"/>
          </a:xfrm>
          <a:prstGeom prst="rect">
            <a:avLst/>
          </a:prstGeom>
          <a:noFill/>
          <a:ln/>
        </p:spPr>
        <p:txBody>
          <a:bodyPr wrap="square" lIns="0" tIns="0" rIns="0" bIns="0" rtlCol="0" anchor="ctr"/>
          <a:lstStyle/>
          <a:p>
            <a:pPr algn="r" indent="0" marL="0">
              <a:spcAft>
                <a:spcPts val="400"/>
              </a:spcAft>
              <a:buNone/>
            </a:pPr>
            <a:r>
              <a:rPr lang="en-US" sz="1200" dirty="0">
                <a:solidFill>
                  <a:schemeClr val="tx1"/>
                </a:solidFill>
              </a:rPr>
              <a:t>Our copy of class-paper setup</a:t>
            </a:r>
            <a:endParaRPr lang="en-US" sz="1200" dirty="0"/>
          </a:p>
        </p:txBody>
      </p:sp>
      <p:sp>
        <p:nvSpPr>
          <p:cNvPr id="9" name="Accuracy chart bar 2"/>
          <p:cNvSpPr/>
          <p:nvPr/>
        </p:nvSpPr>
        <p:spPr>
          <a:xfrm>
            <a:off x="3291840" y="2249424"/>
            <a:ext cx="1234440" cy="329184"/>
          </a:xfrm>
          <a:prstGeom prst="rect">
            <a:avLst/>
          </a:prstGeom>
          <a:solidFill>
            <a:schemeClr val="accent1"/>
          </a:solidFill>
          <a:ln w="12700">
            <a:solidFill>
              <a:schemeClr val="accent1"/>
            </a:solidFill>
            <a:prstDash val="solid"/>
          </a:ln>
        </p:spPr>
      </p:sp>
      <p:sp>
        <p:nvSpPr>
          <p:cNvPr id="10" name="Text 8"/>
          <p:cNvSpPr txBox="1"/>
          <p:nvPr/>
        </p:nvSpPr>
        <p:spPr>
          <a:xfrm>
            <a:off x="4581144" y="2112264"/>
            <a:ext cx="502920" cy="603504"/>
          </a:xfrm>
          <a:prstGeom prst="rect">
            <a:avLst/>
          </a:prstGeom>
          <a:noFill/>
          <a:ln/>
        </p:spPr>
        <p:txBody>
          <a:bodyPr wrap="square" lIns="0" tIns="0" rIns="0" bIns="0" rtlCol="0" anchor="ctr"/>
          <a:lstStyle/>
          <a:p>
            <a:pPr indent="0" marL="0">
              <a:spcAft>
                <a:spcPts val="400"/>
              </a:spcAft>
              <a:buNone/>
            </a:pPr>
            <a:r>
              <a:rPr lang="en-US" sz="1200" b="1" dirty="0">
                <a:solidFill>
                  <a:schemeClr val="tx1"/>
                </a:solidFill>
              </a:rPr>
              <a:t>0.60</a:t>
            </a:r>
            <a:endParaRPr lang="en-US" sz="1200" dirty="0"/>
          </a:p>
        </p:txBody>
      </p:sp>
      <p:sp>
        <p:nvSpPr>
          <p:cNvPr id="11" name="Text 9"/>
          <p:cNvSpPr txBox="1"/>
          <p:nvPr/>
        </p:nvSpPr>
        <p:spPr>
          <a:xfrm>
            <a:off x="457200" y="2715768"/>
            <a:ext cx="2331720" cy="603504"/>
          </a:xfrm>
          <a:prstGeom prst="rect">
            <a:avLst/>
          </a:prstGeom>
          <a:noFill/>
          <a:ln/>
        </p:spPr>
        <p:txBody>
          <a:bodyPr wrap="square" lIns="0" tIns="0" rIns="0" bIns="0" rtlCol="0" anchor="ctr"/>
          <a:lstStyle/>
          <a:p>
            <a:pPr algn="r" indent="0" marL="0">
              <a:spcAft>
                <a:spcPts val="400"/>
              </a:spcAft>
              <a:buNone/>
            </a:pPr>
            <a:r>
              <a:rPr lang="en-US" sz="1200" dirty="0">
                <a:solidFill>
                  <a:schemeClr val="tx1"/>
                </a:solidFill>
              </a:rPr>
              <a:t>Our features, random split</a:t>
            </a:r>
            <a:endParaRPr lang="en-US" sz="1200" dirty="0"/>
          </a:p>
        </p:txBody>
      </p:sp>
      <p:sp>
        <p:nvSpPr>
          <p:cNvPr id="12" name="Accuracy chart bar 3"/>
          <p:cNvSpPr/>
          <p:nvPr/>
        </p:nvSpPr>
        <p:spPr>
          <a:xfrm>
            <a:off x="3291840" y="2852928"/>
            <a:ext cx="1316736" cy="329184"/>
          </a:xfrm>
          <a:prstGeom prst="rect">
            <a:avLst/>
          </a:prstGeom>
          <a:solidFill>
            <a:schemeClr val="accent1"/>
          </a:solidFill>
          <a:ln w="12700">
            <a:solidFill>
              <a:schemeClr val="accent1"/>
            </a:solidFill>
            <a:prstDash val="solid"/>
          </a:ln>
        </p:spPr>
      </p:sp>
      <p:sp>
        <p:nvSpPr>
          <p:cNvPr id="13" name="Text 11"/>
          <p:cNvSpPr txBox="1"/>
          <p:nvPr/>
        </p:nvSpPr>
        <p:spPr>
          <a:xfrm>
            <a:off x="4663440" y="2715768"/>
            <a:ext cx="502920" cy="603504"/>
          </a:xfrm>
          <a:prstGeom prst="rect">
            <a:avLst/>
          </a:prstGeom>
          <a:noFill/>
          <a:ln/>
        </p:spPr>
        <p:txBody>
          <a:bodyPr wrap="square" lIns="0" tIns="0" rIns="0" bIns="0" rtlCol="0" anchor="ctr"/>
          <a:lstStyle/>
          <a:p>
            <a:pPr indent="0" marL="0">
              <a:spcAft>
                <a:spcPts val="400"/>
              </a:spcAft>
              <a:buNone/>
            </a:pPr>
            <a:r>
              <a:rPr lang="en-US" sz="1200" b="1" dirty="0">
                <a:solidFill>
                  <a:schemeClr val="tx1"/>
                </a:solidFill>
              </a:rPr>
              <a:t>0.64</a:t>
            </a:r>
            <a:endParaRPr lang="en-US" sz="1200" dirty="0"/>
          </a:p>
        </p:txBody>
      </p:sp>
      <p:sp>
        <p:nvSpPr>
          <p:cNvPr id="14" name="Text 12"/>
          <p:cNvSpPr txBox="1"/>
          <p:nvPr/>
        </p:nvSpPr>
        <p:spPr>
          <a:xfrm>
            <a:off x="457200" y="3319272"/>
            <a:ext cx="2331720" cy="603504"/>
          </a:xfrm>
          <a:prstGeom prst="rect">
            <a:avLst/>
          </a:prstGeom>
          <a:noFill/>
          <a:ln/>
        </p:spPr>
        <p:txBody>
          <a:bodyPr wrap="square" lIns="0" tIns="0" rIns="0" bIns="0" rtlCol="0" anchor="ctr"/>
          <a:lstStyle/>
          <a:p>
            <a:pPr algn="r" indent="0" marL="0">
              <a:spcAft>
                <a:spcPts val="400"/>
              </a:spcAft>
              <a:buNone/>
            </a:pPr>
            <a:r>
              <a:rPr lang="en-US" sz="1200" dirty="0">
                <a:solidFill>
                  <a:schemeClr val="tx1"/>
                </a:solidFill>
              </a:rPr>
              <a:t>Our features, held-out time blocks</a:t>
            </a:r>
            <a:endParaRPr lang="en-US" sz="1200" dirty="0"/>
          </a:p>
        </p:txBody>
      </p:sp>
      <p:sp>
        <p:nvSpPr>
          <p:cNvPr id="15" name="Accuracy chart bar 4"/>
          <p:cNvSpPr/>
          <p:nvPr/>
        </p:nvSpPr>
        <p:spPr>
          <a:xfrm>
            <a:off x="3291840" y="3456432"/>
            <a:ext cx="699516" cy="329184"/>
          </a:xfrm>
          <a:prstGeom prst="rect">
            <a:avLst/>
          </a:prstGeom>
          <a:solidFill>
            <a:schemeClr val="accent2"/>
          </a:solidFill>
          <a:ln w="12700">
            <a:solidFill>
              <a:schemeClr val="accent2"/>
            </a:solidFill>
            <a:prstDash val="solid"/>
          </a:ln>
        </p:spPr>
      </p:sp>
      <p:sp>
        <p:nvSpPr>
          <p:cNvPr id="16" name="Text 14"/>
          <p:cNvSpPr txBox="1"/>
          <p:nvPr/>
        </p:nvSpPr>
        <p:spPr>
          <a:xfrm>
            <a:off x="4046220" y="3319272"/>
            <a:ext cx="502920" cy="603504"/>
          </a:xfrm>
          <a:prstGeom prst="rect">
            <a:avLst/>
          </a:prstGeom>
          <a:noFill/>
          <a:ln/>
        </p:spPr>
        <p:txBody>
          <a:bodyPr wrap="square" lIns="0" tIns="0" rIns="0" bIns="0" rtlCol="0" anchor="ctr"/>
          <a:lstStyle/>
          <a:p>
            <a:pPr indent="0" marL="0">
              <a:spcAft>
                <a:spcPts val="400"/>
              </a:spcAft>
              <a:buNone/>
            </a:pPr>
            <a:r>
              <a:rPr lang="en-US" sz="1200" b="1" dirty="0">
                <a:solidFill>
                  <a:schemeClr val="tx1"/>
                </a:solidFill>
              </a:rPr>
              <a:t>0.34</a:t>
            </a:r>
            <a:endParaRPr lang="en-US" sz="1200" dirty="0"/>
          </a:p>
        </p:txBody>
      </p:sp>
      <p:sp>
        <p:nvSpPr>
          <p:cNvPr id="17" name="Text 15"/>
          <p:cNvSpPr txBox="1"/>
          <p:nvPr/>
        </p:nvSpPr>
        <p:spPr>
          <a:xfrm>
            <a:off x="457200" y="3922776"/>
            <a:ext cx="2331720" cy="603504"/>
          </a:xfrm>
          <a:prstGeom prst="rect">
            <a:avLst/>
          </a:prstGeom>
          <a:noFill/>
          <a:ln/>
        </p:spPr>
        <p:txBody>
          <a:bodyPr wrap="square" lIns="0" tIns="0" rIns="0" bIns="0" rtlCol="0" anchor="ctr"/>
          <a:lstStyle/>
          <a:p>
            <a:pPr algn="r" indent="0" marL="0">
              <a:spcAft>
                <a:spcPts val="400"/>
              </a:spcAft>
              <a:buNone/>
            </a:pPr>
            <a:r>
              <a:rPr lang="en-US" sz="1200" dirty="0">
                <a:solidFill>
                  <a:schemeClr val="tx1"/>
                </a:solidFill>
              </a:rPr>
              <a:t>One season, held-out blocks (best)</a:t>
            </a:r>
            <a:endParaRPr lang="en-US" sz="1200" dirty="0"/>
          </a:p>
        </p:txBody>
      </p:sp>
      <p:sp>
        <p:nvSpPr>
          <p:cNvPr id="18" name="Accuracy chart bar 5"/>
          <p:cNvSpPr/>
          <p:nvPr/>
        </p:nvSpPr>
        <p:spPr>
          <a:xfrm>
            <a:off x="3003804" y="4059936"/>
            <a:ext cx="288036" cy="329184"/>
          </a:xfrm>
          <a:prstGeom prst="rect">
            <a:avLst/>
          </a:prstGeom>
          <a:solidFill>
            <a:schemeClr val="accent6"/>
          </a:solidFill>
          <a:ln w="12700">
            <a:solidFill>
              <a:schemeClr val="accent6"/>
            </a:solidFill>
            <a:prstDash val="solid"/>
          </a:ln>
        </p:spPr>
      </p:sp>
      <p:sp>
        <p:nvSpPr>
          <p:cNvPr id="19" name="Text 17"/>
          <p:cNvSpPr txBox="1"/>
          <p:nvPr/>
        </p:nvSpPr>
        <p:spPr>
          <a:xfrm>
            <a:off x="3346704" y="3922776"/>
            <a:ext cx="502920" cy="603504"/>
          </a:xfrm>
          <a:prstGeom prst="rect">
            <a:avLst/>
          </a:prstGeom>
          <a:noFill/>
          <a:ln/>
        </p:spPr>
        <p:txBody>
          <a:bodyPr wrap="square" lIns="0" tIns="0" rIns="0" bIns="0" rtlCol="0" anchor="ctr"/>
          <a:lstStyle/>
          <a:p>
            <a:pPr indent="0" marL="0">
              <a:spcAft>
                <a:spcPts val="400"/>
              </a:spcAft>
              <a:buNone/>
            </a:pPr>
            <a:r>
              <a:rPr lang="en-US" sz="1200" b="1" dirty="0">
                <a:solidFill>
                  <a:schemeClr val="tx1"/>
                </a:solidFill>
              </a:rPr>
              <a:t>-0.14</a:t>
            </a:r>
            <a:endParaRPr lang="en-US" sz="1200" dirty="0"/>
          </a:p>
        </p:txBody>
      </p:sp>
      <p:sp>
        <p:nvSpPr>
          <p:cNvPr id="20" name="Text 18"/>
          <p:cNvSpPr txBox="1"/>
          <p:nvPr/>
        </p:nvSpPr>
        <p:spPr>
          <a:xfrm>
            <a:off x="6035040" y="1188720"/>
            <a:ext cx="2651760" cy="1508760"/>
          </a:xfrm>
          <a:prstGeom prst="rect">
            <a:avLst/>
          </a:prstGeom>
          <a:noFill/>
          <a:ln/>
        </p:spPr>
        <p:txBody>
          <a:bodyPr wrap="square" lIns="0" tIns="0" rIns="0" bIns="0" rtlCol="0" anchor="t"/>
          <a:lstStyle/>
          <a:p>
            <a:pPr indent="0" marL="0">
              <a:spcAft>
                <a:spcPts val="400"/>
              </a:spcAft>
              <a:buNone/>
            </a:pPr>
            <a:r>
              <a:rPr lang="en-US" sz="4800" b="1" dirty="0">
                <a:solidFill>
                  <a:schemeClr val="accent2"/>
                </a:solidFill>
                <a:latin typeface="Cambria" pitchFamily="34" charset="0"/>
                <a:ea typeface="Cambria" pitchFamily="34" charset="-122"/>
                <a:cs typeface="Cambria" pitchFamily="34" charset="-120"/>
              </a:rPr>
              <a:t>0.34</a:t>
            </a:r>
            <a:endParaRPr lang="en-US" sz="1400" dirty="0"/>
          </a:p>
          <a:p>
            <a:pPr indent="0" marL="0">
              <a:spcAft>
                <a:spcPts val="400"/>
              </a:spcAft>
              <a:buNone/>
            </a:pPr>
            <a:r>
              <a:rPr lang="en-US" sz="1300" dirty="0">
                <a:solidFill>
                  <a:schemeClr val="tx1"/>
                </a:solidFill>
              </a:rPr>
              <a:t>honest accuracy across all seasons (95% interval 0.15 to 0.49)</a:t>
            </a:r>
            <a:endParaRPr lang="en-US" sz="1400" dirty="0"/>
          </a:p>
        </p:txBody>
      </p:sp>
      <p:sp>
        <p:nvSpPr>
          <p:cNvPr id="21" name="Text 19"/>
          <p:cNvSpPr txBox="1"/>
          <p:nvPr/>
        </p:nvSpPr>
        <p:spPr>
          <a:xfrm>
            <a:off x="6035040" y="2926080"/>
            <a:ext cx="2651760" cy="1097280"/>
          </a:xfrm>
          <a:prstGeom prst="rect">
            <a:avLst/>
          </a:prstGeom>
          <a:noFill/>
          <a:ln/>
        </p:spPr>
        <p:txBody>
          <a:bodyPr wrap="square" lIns="0" tIns="0" rIns="0" bIns="0" rtlCol="0" anchor="t"/>
          <a:lstStyle/>
          <a:p>
            <a:pPr indent="0" marL="0">
              <a:spcAft>
                <a:spcPts val="400"/>
              </a:spcAft>
              <a:buNone/>
            </a:pPr>
            <a:r>
              <a:rPr lang="en-US" sz="3000" b="1" dirty="0">
                <a:solidFill>
                  <a:schemeClr val="accent6"/>
                </a:solidFill>
                <a:latin typeface="Cambria" pitchFamily="34" charset="0"/>
                <a:ea typeface="Cambria" pitchFamily="34" charset="-122"/>
                <a:cs typeface="Cambria" pitchFamily="34" charset="-120"/>
              </a:rPr>
              <a:t>Below 0</a:t>
            </a:r>
            <a:endParaRPr lang="en-US" sz="1400" dirty="0"/>
          </a:p>
          <a:p>
            <a:pPr indent="0" marL="0">
              <a:spcAft>
                <a:spcPts val="400"/>
              </a:spcAft>
              <a:buNone/>
            </a:pPr>
            <a:r>
              <a:rPr lang="en-US" sz="1300" dirty="0">
                <a:solidFill>
                  <a:schemeClr val="tx1"/>
                </a:solidFill>
              </a:rPr>
              <a:t>when predicting a season the model never saw</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Results: what drives floc size</a:t>
            </a:r>
            <a:endParaRPr lang="en-US" sz="3000" dirty="0"/>
          </a:p>
        </p:txBody>
      </p:sp>
      <p:sp>
        <p:nvSpPr>
          <p:cNvPr id="3" name="Text 1"/>
          <p:cNvSpPr txBox="1"/>
          <p:nvPr/>
        </p:nvSpPr>
        <p:spPr>
          <a:xfrm>
            <a:off x="457200" y="1143000"/>
            <a:ext cx="4663440" cy="274320"/>
          </a:xfrm>
          <a:prstGeom prst="rect">
            <a:avLst/>
          </a:prstGeom>
          <a:noFill/>
          <a:ln/>
        </p:spPr>
        <p:txBody>
          <a:bodyPr wrap="square" lIns="0" tIns="0" rIns="0" bIns="0" rtlCol="0" anchor="t"/>
          <a:lstStyle/>
          <a:p>
            <a:pPr indent="0" marL="0">
              <a:spcAft>
                <a:spcPts val="400"/>
              </a:spcAft>
              <a:buNone/>
            </a:pPr>
            <a:r>
              <a:rPr lang="en-US" sz="1200" b="1" dirty="0">
                <a:solidFill>
                  <a:schemeClr val="tx2"/>
                </a:solidFill>
              </a:rPr>
              <a:t>Drop in r² when the feature is shuffled</a:t>
            </a:r>
            <a:endParaRPr lang="en-US" sz="1200" dirty="0"/>
          </a:p>
        </p:txBody>
      </p:sp>
      <p:sp>
        <p:nvSpPr>
          <p:cNvPr id="4" name="Importance chart zero line"/>
          <p:cNvSpPr/>
          <p:nvPr/>
        </p:nvSpPr>
        <p:spPr>
          <a:xfrm>
            <a:off x="2240280" y="1508760"/>
            <a:ext cx="0" cy="2834640"/>
          </a:xfrm>
          <a:prstGeom prst="line">
            <a:avLst/>
          </a:prstGeom>
          <a:noFill/>
          <a:ln w="12700">
            <a:solidFill>
              <a:srgbClr val="5E6B72"/>
            </a:solidFill>
            <a:prstDash val="solid"/>
          </a:ln>
        </p:spPr>
      </p:sp>
      <p:sp>
        <p:nvSpPr>
          <p:cNvPr id="5" name="Text 3"/>
          <p:cNvSpPr txBox="1"/>
          <p:nvPr/>
        </p:nvSpPr>
        <p:spPr>
          <a:xfrm>
            <a:off x="457200" y="1508760"/>
            <a:ext cx="1691640" cy="472440"/>
          </a:xfrm>
          <a:prstGeom prst="rect">
            <a:avLst/>
          </a:prstGeom>
          <a:noFill/>
          <a:ln/>
        </p:spPr>
        <p:txBody>
          <a:bodyPr wrap="square" lIns="0" tIns="0" rIns="0" bIns="0" rtlCol="0" anchor="ctr"/>
          <a:lstStyle/>
          <a:p>
            <a:pPr algn="r" indent="0" marL="0">
              <a:spcAft>
                <a:spcPts val="400"/>
              </a:spcAft>
              <a:buNone/>
            </a:pPr>
            <a:r>
              <a:rPr lang="en-US" sz="1200" dirty="0">
                <a:solidFill>
                  <a:schemeClr val="tx1"/>
                </a:solidFill>
              </a:rPr>
              <a:t>ū₄  current 4 h ago</a:t>
            </a:r>
            <a:endParaRPr lang="en-US" sz="1200" dirty="0"/>
          </a:p>
        </p:txBody>
      </p:sp>
      <p:sp>
        <p:nvSpPr>
          <p:cNvPr id="6" name="Importance chart bar 1"/>
          <p:cNvSpPr/>
          <p:nvPr/>
        </p:nvSpPr>
        <p:spPr>
          <a:xfrm>
            <a:off x="2240280" y="1603248"/>
            <a:ext cx="1842516" cy="283464"/>
          </a:xfrm>
          <a:prstGeom prst="rect">
            <a:avLst/>
          </a:prstGeom>
          <a:solidFill>
            <a:schemeClr val="accent2"/>
          </a:solidFill>
          <a:ln w="12700">
            <a:solidFill>
              <a:schemeClr val="accent2"/>
            </a:solidFill>
            <a:prstDash val="solid"/>
          </a:ln>
        </p:spPr>
      </p:sp>
      <p:sp>
        <p:nvSpPr>
          <p:cNvPr id="7" name="Text 5"/>
          <p:cNvSpPr txBox="1"/>
          <p:nvPr/>
        </p:nvSpPr>
        <p:spPr>
          <a:xfrm>
            <a:off x="4137660" y="1508760"/>
            <a:ext cx="502920" cy="472440"/>
          </a:xfrm>
          <a:prstGeom prst="rect">
            <a:avLst/>
          </a:prstGeom>
          <a:noFill/>
          <a:ln/>
        </p:spPr>
        <p:txBody>
          <a:bodyPr wrap="square" lIns="0" tIns="0" rIns="0" bIns="0" rtlCol="0" anchor="ctr"/>
          <a:lstStyle/>
          <a:p>
            <a:pPr indent="0" marL="0">
              <a:spcAft>
                <a:spcPts val="400"/>
              </a:spcAft>
              <a:buNone/>
            </a:pPr>
            <a:r>
              <a:rPr lang="en-US" sz="1200" b="1" dirty="0">
                <a:solidFill>
                  <a:schemeClr val="tx1"/>
                </a:solidFill>
              </a:rPr>
              <a:t>0.15</a:t>
            </a:r>
            <a:endParaRPr lang="en-US" sz="1200" dirty="0"/>
          </a:p>
        </p:txBody>
      </p:sp>
      <p:sp>
        <p:nvSpPr>
          <p:cNvPr id="8" name="Text 6"/>
          <p:cNvSpPr txBox="1"/>
          <p:nvPr/>
        </p:nvSpPr>
        <p:spPr>
          <a:xfrm>
            <a:off x="457200" y="1981200"/>
            <a:ext cx="1691640" cy="472440"/>
          </a:xfrm>
          <a:prstGeom prst="rect">
            <a:avLst/>
          </a:prstGeom>
          <a:noFill/>
          <a:ln/>
        </p:spPr>
        <p:txBody>
          <a:bodyPr wrap="square" lIns="0" tIns="0" rIns="0" bIns="0" rtlCol="0" anchor="ctr"/>
          <a:lstStyle/>
          <a:p>
            <a:pPr algn="r" indent="0" marL="0">
              <a:spcAft>
                <a:spcPts val="400"/>
              </a:spcAft>
              <a:buNone/>
            </a:pPr>
            <a:r>
              <a:rPr lang="en-US" sz="1200" dirty="0">
                <a:solidFill>
                  <a:schemeClr val="tx1"/>
                </a:solidFill>
              </a:rPr>
              <a:t>u_b  wave velocity</a:t>
            </a:r>
            <a:endParaRPr lang="en-US" sz="1200" dirty="0"/>
          </a:p>
        </p:txBody>
      </p:sp>
      <p:sp>
        <p:nvSpPr>
          <p:cNvPr id="9" name="Importance chart bar 2"/>
          <p:cNvSpPr/>
          <p:nvPr/>
        </p:nvSpPr>
        <p:spPr>
          <a:xfrm>
            <a:off x="2240280" y="2075688"/>
            <a:ext cx="1497787" cy="283464"/>
          </a:xfrm>
          <a:prstGeom prst="rect">
            <a:avLst/>
          </a:prstGeom>
          <a:solidFill>
            <a:schemeClr val="accent2"/>
          </a:solidFill>
          <a:ln w="12700">
            <a:solidFill>
              <a:schemeClr val="accent2"/>
            </a:solidFill>
            <a:prstDash val="solid"/>
          </a:ln>
        </p:spPr>
      </p:sp>
      <p:sp>
        <p:nvSpPr>
          <p:cNvPr id="10" name="Text 8"/>
          <p:cNvSpPr txBox="1"/>
          <p:nvPr/>
        </p:nvSpPr>
        <p:spPr>
          <a:xfrm>
            <a:off x="3792931" y="1981200"/>
            <a:ext cx="502920" cy="472440"/>
          </a:xfrm>
          <a:prstGeom prst="rect">
            <a:avLst/>
          </a:prstGeom>
          <a:noFill/>
          <a:ln/>
        </p:spPr>
        <p:txBody>
          <a:bodyPr wrap="square" lIns="0" tIns="0" rIns="0" bIns="0" rtlCol="0" anchor="ctr"/>
          <a:lstStyle/>
          <a:p>
            <a:pPr indent="0" marL="0">
              <a:spcAft>
                <a:spcPts val="400"/>
              </a:spcAft>
              <a:buNone/>
            </a:pPr>
            <a:r>
              <a:rPr lang="en-US" sz="1200" b="1" dirty="0">
                <a:solidFill>
                  <a:schemeClr val="tx1"/>
                </a:solidFill>
              </a:rPr>
              <a:t>0.13</a:t>
            </a:r>
            <a:endParaRPr lang="en-US" sz="1200" dirty="0"/>
          </a:p>
        </p:txBody>
      </p:sp>
      <p:sp>
        <p:nvSpPr>
          <p:cNvPr id="11" name="Text 9"/>
          <p:cNvSpPr txBox="1"/>
          <p:nvPr/>
        </p:nvSpPr>
        <p:spPr>
          <a:xfrm>
            <a:off x="457200" y="2453640"/>
            <a:ext cx="1691640" cy="472440"/>
          </a:xfrm>
          <a:prstGeom prst="rect">
            <a:avLst/>
          </a:prstGeom>
          <a:noFill/>
          <a:ln/>
        </p:spPr>
        <p:txBody>
          <a:bodyPr wrap="square" lIns="0" tIns="0" rIns="0" bIns="0" rtlCol="0" anchor="ctr"/>
          <a:lstStyle/>
          <a:p>
            <a:pPr algn="r" indent="0" marL="0">
              <a:spcAft>
                <a:spcPts val="400"/>
              </a:spcAft>
              <a:buNone/>
            </a:pPr>
            <a:r>
              <a:rPr lang="en-US" sz="1200" dirty="0">
                <a:solidFill>
                  <a:schemeClr val="tx1"/>
                </a:solidFill>
              </a:rPr>
              <a:t>ū  current now</a:t>
            </a:r>
            <a:endParaRPr lang="en-US" sz="1200" dirty="0"/>
          </a:p>
        </p:txBody>
      </p:sp>
      <p:sp>
        <p:nvSpPr>
          <p:cNvPr id="12" name="Importance chart bar 3"/>
          <p:cNvSpPr/>
          <p:nvPr/>
        </p:nvSpPr>
        <p:spPr>
          <a:xfrm>
            <a:off x="2240280" y="2548128"/>
            <a:ext cx="594360" cy="283464"/>
          </a:xfrm>
          <a:prstGeom prst="rect">
            <a:avLst/>
          </a:prstGeom>
          <a:solidFill>
            <a:schemeClr val="accent2"/>
          </a:solidFill>
          <a:ln w="12700">
            <a:solidFill>
              <a:schemeClr val="accent2"/>
            </a:solidFill>
            <a:prstDash val="solid"/>
          </a:ln>
        </p:spPr>
      </p:sp>
      <p:sp>
        <p:nvSpPr>
          <p:cNvPr id="13" name="Text 11"/>
          <p:cNvSpPr txBox="1"/>
          <p:nvPr/>
        </p:nvSpPr>
        <p:spPr>
          <a:xfrm>
            <a:off x="2889504" y="2453640"/>
            <a:ext cx="502920" cy="472440"/>
          </a:xfrm>
          <a:prstGeom prst="rect">
            <a:avLst/>
          </a:prstGeom>
          <a:noFill/>
          <a:ln/>
        </p:spPr>
        <p:txBody>
          <a:bodyPr wrap="square" lIns="0" tIns="0" rIns="0" bIns="0" rtlCol="0" anchor="ctr"/>
          <a:lstStyle/>
          <a:p>
            <a:pPr indent="0" marL="0">
              <a:spcAft>
                <a:spcPts val="400"/>
              </a:spcAft>
              <a:buNone/>
            </a:pPr>
            <a:r>
              <a:rPr lang="en-US" sz="1200" b="1" dirty="0">
                <a:solidFill>
                  <a:schemeClr val="tx1"/>
                </a:solidFill>
              </a:rPr>
              <a:t>0.05</a:t>
            </a:r>
            <a:endParaRPr lang="en-US" sz="1200" dirty="0"/>
          </a:p>
        </p:txBody>
      </p:sp>
      <p:sp>
        <p:nvSpPr>
          <p:cNvPr id="14" name="Text 12"/>
          <p:cNvSpPr txBox="1"/>
          <p:nvPr/>
        </p:nvSpPr>
        <p:spPr>
          <a:xfrm>
            <a:off x="457200" y="2926080"/>
            <a:ext cx="1691640" cy="472440"/>
          </a:xfrm>
          <a:prstGeom prst="rect">
            <a:avLst/>
          </a:prstGeom>
          <a:noFill/>
          <a:ln/>
        </p:spPr>
        <p:txBody>
          <a:bodyPr wrap="square" lIns="0" tIns="0" rIns="0" bIns="0" rtlCol="0" anchor="ctr"/>
          <a:lstStyle/>
          <a:p>
            <a:pPr algn="r" indent="0" marL="0">
              <a:spcAft>
                <a:spcPts val="400"/>
              </a:spcAft>
              <a:buNone/>
            </a:pPr>
            <a:r>
              <a:rPr lang="en-US" sz="1200" dirty="0">
                <a:solidFill>
                  <a:schemeClr val="tx1"/>
                </a:solidFill>
              </a:rPr>
              <a:t>S  salinity</a:t>
            </a:r>
            <a:endParaRPr lang="en-US" sz="1200" dirty="0"/>
          </a:p>
        </p:txBody>
      </p:sp>
      <p:sp>
        <p:nvSpPr>
          <p:cNvPr id="15" name="Importance chart bar 4"/>
          <p:cNvSpPr/>
          <p:nvPr/>
        </p:nvSpPr>
        <p:spPr>
          <a:xfrm>
            <a:off x="2240280" y="3020568"/>
            <a:ext cx="534924" cy="283464"/>
          </a:xfrm>
          <a:prstGeom prst="rect">
            <a:avLst/>
          </a:prstGeom>
          <a:solidFill>
            <a:schemeClr val="accent2"/>
          </a:solidFill>
          <a:ln w="12700">
            <a:solidFill>
              <a:schemeClr val="accent2"/>
            </a:solidFill>
            <a:prstDash val="solid"/>
          </a:ln>
        </p:spPr>
      </p:sp>
      <p:sp>
        <p:nvSpPr>
          <p:cNvPr id="16" name="Text 14"/>
          <p:cNvSpPr txBox="1"/>
          <p:nvPr/>
        </p:nvSpPr>
        <p:spPr>
          <a:xfrm>
            <a:off x="2830068" y="2926080"/>
            <a:ext cx="502920" cy="472440"/>
          </a:xfrm>
          <a:prstGeom prst="rect">
            <a:avLst/>
          </a:prstGeom>
          <a:noFill/>
          <a:ln/>
        </p:spPr>
        <p:txBody>
          <a:bodyPr wrap="square" lIns="0" tIns="0" rIns="0" bIns="0" rtlCol="0" anchor="ctr"/>
          <a:lstStyle/>
          <a:p>
            <a:pPr indent="0" marL="0">
              <a:spcAft>
                <a:spcPts val="400"/>
              </a:spcAft>
              <a:buNone/>
            </a:pPr>
            <a:r>
              <a:rPr lang="en-US" sz="1200" b="1" dirty="0">
                <a:solidFill>
                  <a:schemeClr val="tx1"/>
                </a:solidFill>
              </a:rPr>
              <a:t>0.04</a:t>
            </a:r>
            <a:endParaRPr lang="en-US" sz="1200" dirty="0"/>
          </a:p>
        </p:txBody>
      </p:sp>
      <p:sp>
        <p:nvSpPr>
          <p:cNvPr id="17" name="Text 15"/>
          <p:cNvSpPr txBox="1"/>
          <p:nvPr/>
        </p:nvSpPr>
        <p:spPr>
          <a:xfrm>
            <a:off x="457200" y="3398520"/>
            <a:ext cx="1691640" cy="472440"/>
          </a:xfrm>
          <a:prstGeom prst="rect">
            <a:avLst/>
          </a:prstGeom>
          <a:noFill/>
          <a:ln/>
        </p:spPr>
        <p:txBody>
          <a:bodyPr wrap="square" lIns="0" tIns="0" rIns="0" bIns="0" rtlCol="0" anchor="ctr"/>
          <a:lstStyle/>
          <a:p>
            <a:pPr algn="r" indent="0" marL="0">
              <a:spcAft>
                <a:spcPts val="400"/>
              </a:spcAft>
              <a:buNone/>
            </a:pPr>
            <a:r>
              <a:rPr lang="en-US" sz="1200" dirty="0">
                <a:solidFill>
                  <a:schemeClr val="tx1"/>
                </a:solidFill>
              </a:rPr>
              <a:t>T  temperature</a:t>
            </a:r>
            <a:endParaRPr lang="en-US" sz="1200" dirty="0"/>
          </a:p>
        </p:txBody>
      </p:sp>
      <p:sp>
        <p:nvSpPr>
          <p:cNvPr id="18" name="Importance chart bar 5"/>
          <p:cNvSpPr/>
          <p:nvPr/>
        </p:nvSpPr>
        <p:spPr>
          <a:xfrm>
            <a:off x="2240280" y="3493008"/>
            <a:ext cx="534924" cy="283464"/>
          </a:xfrm>
          <a:prstGeom prst="rect">
            <a:avLst/>
          </a:prstGeom>
          <a:solidFill>
            <a:schemeClr val="accent2"/>
          </a:solidFill>
          <a:ln w="12700">
            <a:solidFill>
              <a:schemeClr val="accent2"/>
            </a:solidFill>
            <a:prstDash val="solid"/>
          </a:ln>
        </p:spPr>
      </p:sp>
      <p:sp>
        <p:nvSpPr>
          <p:cNvPr id="19" name="Text 17"/>
          <p:cNvSpPr txBox="1"/>
          <p:nvPr/>
        </p:nvSpPr>
        <p:spPr>
          <a:xfrm>
            <a:off x="2830068" y="3398520"/>
            <a:ext cx="502920" cy="472440"/>
          </a:xfrm>
          <a:prstGeom prst="rect">
            <a:avLst/>
          </a:prstGeom>
          <a:noFill/>
          <a:ln/>
        </p:spPr>
        <p:txBody>
          <a:bodyPr wrap="square" lIns="0" tIns="0" rIns="0" bIns="0" rtlCol="0" anchor="ctr"/>
          <a:lstStyle/>
          <a:p>
            <a:pPr indent="0" marL="0">
              <a:spcAft>
                <a:spcPts val="400"/>
              </a:spcAft>
              <a:buNone/>
            </a:pPr>
            <a:r>
              <a:rPr lang="en-US" sz="1200" b="1" dirty="0">
                <a:solidFill>
                  <a:schemeClr val="tx1"/>
                </a:solidFill>
              </a:rPr>
              <a:t>0.04</a:t>
            </a:r>
            <a:endParaRPr lang="en-US" sz="1200" dirty="0"/>
          </a:p>
        </p:txBody>
      </p:sp>
      <p:sp>
        <p:nvSpPr>
          <p:cNvPr id="20" name="Text 18"/>
          <p:cNvSpPr txBox="1"/>
          <p:nvPr/>
        </p:nvSpPr>
        <p:spPr>
          <a:xfrm>
            <a:off x="457200" y="3870960"/>
            <a:ext cx="1691640" cy="472440"/>
          </a:xfrm>
          <a:prstGeom prst="rect">
            <a:avLst/>
          </a:prstGeom>
          <a:noFill/>
          <a:ln/>
        </p:spPr>
        <p:txBody>
          <a:bodyPr wrap="square" lIns="0" tIns="0" rIns="0" bIns="0" rtlCol="0" anchor="ctr"/>
          <a:lstStyle/>
          <a:p>
            <a:pPr algn="r" indent="0" marL="0">
              <a:spcAft>
                <a:spcPts val="400"/>
              </a:spcAft>
              <a:buNone/>
            </a:pPr>
            <a:r>
              <a:rPr lang="en-US" sz="1200" dirty="0">
                <a:solidFill>
                  <a:schemeClr val="tx1"/>
                </a:solidFill>
              </a:rPr>
              <a:t>ε  turbulence</a:t>
            </a:r>
            <a:endParaRPr lang="en-US" sz="1200" dirty="0"/>
          </a:p>
        </p:txBody>
      </p:sp>
      <p:sp>
        <p:nvSpPr>
          <p:cNvPr id="21" name="Importance chart bar 6"/>
          <p:cNvSpPr/>
          <p:nvPr/>
        </p:nvSpPr>
        <p:spPr>
          <a:xfrm>
            <a:off x="2240280" y="3965448"/>
            <a:ext cx="166421" cy="283464"/>
          </a:xfrm>
          <a:prstGeom prst="rect">
            <a:avLst/>
          </a:prstGeom>
          <a:solidFill>
            <a:schemeClr val="accent2"/>
          </a:solidFill>
          <a:ln w="12700">
            <a:solidFill>
              <a:schemeClr val="accent2"/>
            </a:solidFill>
            <a:prstDash val="solid"/>
          </a:ln>
        </p:spPr>
      </p:sp>
      <p:sp>
        <p:nvSpPr>
          <p:cNvPr id="22" name="Text 20"/>
          <p:cNvSpPr txBox="1"/>
          <p:nvPr/>
        </p:nvSpPr>
        <p:spPr>
          <a:xfrm>
            <a:off x="2461565" y="3870960"/>
            <a:ext cx="502920" cy="472440"/>
          </a:xfrm>
          <a:prstGeom prst="rect">
            <a:avLst/>
          </a:prstGeom>
          <a:noFill/>
          <a:ln/>
        </p:spPr>
        <p:txBody>
          <a:bodyPr wrap="square" lIns="0" tIns="0" rIns="0" bIns="0" rtlCol="0" anchor="ctr"/>
          <a:lstStyle/>
          <a:p>
            <a:pPr indent="0" marL="0">
              <a:spcAft>
                <a:spcPts val="400"/>
              </a:spcAft>
              <a:buNone/>
            </a:pPr>
            <a:r>
              <a:rPr lang="en-US" sz="1200" b="1" dirty="0">
                <a:solidFill>
                  <a:schemeClr val="tx1"/>
                </a:solidFill>
              </a:rPr>
              <a:t>0.01</a:t>
            </a:r>
            <a:endParaRPr lang="en-US" sz="1200" dirty="0"/>
          </a:p>
        </p:txBody>
      </p:sp>
      <p:sp>
        <p:nvSpPr>
          <p:cNvPr id="23" name="Agreement card"/>
          <p:cNvSpPr/>
          <p:nvPr/>
        </p:nvSpPr>
        <p:spPr>
          <a:xfrm>
            <a:off x="5394960" y="1143000"/>
            <a:ext cx="3291840" cy="3246120"/>
          </a:xfrm>
          <a:prstGeom prst="roundRect">
            <a:avLst>
              <a:gd name="adj" fmla="val 2254"/>
            </a:avLst>
          </a:prstGeom>
          <a:solidFill>
            <a:schemeClr val="bg1"/>
          </a:solidFill>
          <a:ln w="12700">
            <a:solidFill>
              <a:srgbClr val="D3DDE0"/>
            </a:solidFill>
            <a:prstDash val="solid"/>
          </a:ln>
        </p:spPr>
      </p:sp>
      <p:sp>
        <p:nvSpPr>
          <p:cNvPr id="24" name="Text 22"/>
          <p:cNvSpPr txBox="1"/>
          <p:nvPr/>
        </p:nvSpPr>
        <p:spPr>
          <a:xfrm>
            <a:off x="5596128" y="1280160"/>
            <a:ext cx="2926080" cy="36576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Matches the journal paper</a:t>
            </a:r>
            <a:endParaRPr lang="en-US" sz="1400" dirty="0"/>
          </a:p>
        </p:txBody>
      </p:sp>
      <p:sp>
        <p:nvSpPr>
          <p:cNvPr id="25" name="Text 23"/>
          <p:cNvSpPr txBox="1"/>
          <p:nvPr/>
        </p:nvSpPr>
        <p:spPr>
          <a:xfrm>
            <a:off x="5596128" y="1691640"/>
            <a:ext cx="2926080" cy="26060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Stronger waves give smaller flocs</a:t>
            </a:r>
            <a:endParaRPr lang="en-US" sz="1400" dirty="0"/>
          </a:p>
          <a:p>
            <a:pPr marL="177800" indent="-177800">
              <a:spcAft>
                <a:spcPts val="600"/>
              </a:spcAft>
              <a:buSzPct val="100000"/>
              <a:buChar char="•"/>
            </a:pPr>
            <a:r>
              <a:rPr lang="en-US" sz="1300" dirty="0">
                <a:solidFill>
                  <a:schemeClr val="tx1"/>
                </a:solidFill>
              </a:rPr>
              <a:t>Stronger tide 4 h earlier brings larger flocs</a:t>
            </a:r>
            <a:endParaRPr lang="en-US" sz="1400" dirty="0"/>
          </a:p>
          <a:p>
            <a:pPr marL="177800" indent="-177800">
              <a:spcAft>
                <a:spcPts val="600"/>
              </a:spcAft>
              <a:buSzPct val="100000"/>
              <a:buChar char="•"/>
            </a:pPr>
            <a:r>
              <a:rPr lang="en-US" sz="1300" dirty="0">
                <a:solidFill>
                  <a:schemeClr val="tx1"/>
                </a:solidFill>
              </a:rPr>
              <a:t>Turbulence adds almost nothing</a:t>
            </a:r>
            <a:endParaRPr lang="en-US" sz="1400" dirty="0"/>
          </a:p>
          <a:p>
            <a:pPr marL="177800" indent="-177800">
              <a:spcAft>
                <a:spcPts val="600"/>
              </a:spcAft>
              <a:buSzPct val="100000"/>
              <a:buChar char="•"/>
            </a:pPr>
            <a:r>
              <a:rPr lang="en-US" sz="1300" dirty="0">
                <a:solidFill>
                  <a:schemeClr val="tx1"/>
                </a:solidFill>
              </a:rPr>
              <a:t>Salinity is weak within a season, unlike the class paper, which ranked it first</a:t>
            </a:r>
            <a:endParaRPr lang="en-US" sz="1400" dirty="0"/>
          </a:p>
        </p:txBody>
      </p:sp>
      <p:sp>
        <p:nvSpPr>
          <p:cNvPr id="26" name="Text 24"/>
          <p:cNvSpPr txBox="1"/>
          <p:nvPr/>
        </p:nvSpPr>
        <p:spPr>
          <a:xfrm>
            <a:off x="457200" y="4480560"/>
            <a:ext cx="4754880" cy="274320"/>
          </a:xfrm>
          <a:prstGeom prst="rect">
            <a:avLst/>
          </a:prstGeom>
          <a:noFill/>
          <a:ln/>
        </p:spPr>
        <p:txBody>
          <a:bodyPr wrap="square" lIns="0" tIns="0" rIns="0" bIns="0" rtlCol="0" anchor="t"/>
          <a:lstStyle/>
          <a:p>
            <a:pPr indent="0" marL="0">
              <a:spcAft>
                <a:spcPts val="400"/>
              </a:spcAft>
              <a:buNone/>
            </a:pPr>
            <a:r>
              <a:rPr lang="en-US" sz="1100" i="1" dirty="0">
                <a:solidFill>
                  <a:srgbClr val="5E6B72"/>
                </a:solidFill>
              </a:rPr>
              <a:t>Pooled model, all seasons. Longer bar = the model relies on it more.</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Results: what the model gets right and wrong</a:t>
            </a:r>
            <a:endParaRPr lang="en-US" sz="3000" dirty="0"/>
          </a:p>
        </p:txBody>
      </p:sp>
      <p:pic>
        <p:nvPicPr>
          <p:cNvPr id="3" name="Time series figure" descr="Measured and predicted floc size over time for each season">    </p:cNvPr>
          <p:cNvPicPr>
            <a:picLocks noChangeAspect="1"/>
          </p:cNvPicPr>
          <p:nvPr/>
        </p:nvPicPr>
        <p:blipFill>
          <a:blip r:embed="rId1"/>
          <a:stretch>
            <a:fillRect/>
          </a:stretch>
        </p:blipFill>
        <p:spPr>
          <a:xfrm>
            <a:off x="365760" y="1051560"/>
            <a:ext cx="5349240" cy="3401568"/>
          </a:xfrm>
          <a:prstGeom prst="rect">
            <a:avLst/>
          </a:prstGeom>
        </p:spPr>
      </p:pic>
      <p:sp>
        <p:nvSpPr>
          <p:cNvPr id="4" name="Text 1"/>
          <p:cNvSpPr txBox="1"/>
          <p:nvPr/>
        </p:nvSpPr>
        <p:spPr>
          <a:xfrm>
            <a:off x="365760" y="4498848"/>
            <a:ext cx="5349240" cy="320040"/>
          </a:xfrm>
          <a:prstGeom prst="rect">
            <a:avLst/>
          </a:prstGeom>
          <a:noFill/>
          <a:ln/>
        </p:spPr>
        <p:txBody>
          <a:bodyPr wrap="square" lIns="0" tIns="0" rIns="0" bIns="0" rtlCol="0" anchor="t"/>
          <a:lstStyle/>
          <a:p>
            <a:pPr indent="0" marL="0">
              <a:spcAft>
                <a:spcPts val="400"/>
              </a:spcAft>
              <a:buNone/>
            </a:pPr>
            <a:r>
              <a:rPr lang="en-US" sz="1100" i="1" dirty="0">
                <a:solidFill>
                  <a:srgbClr val="5E6B72"/>
                </a:solidFill>
              </a:rPr>
              <a:t>Grey: measured floc size. Colour: prediction for days the model never saw ('out-of-fold').</a:t>
            </a:r>
            <a:endParaRPr lang="en-US" sz="1100" dirty="0"/>
          </a:p>
        </p:txBody>
      </p:sp>
      <p:sp>
        <p:nvSpPr>
          <p:cNvPr id="5" name="Takeaway card"/>
          <p:cNvSpPr/>
          <p:nvPr/>
        </p:nvSpPr>
        <p:spPr>
          <a:xfrm>
            <a:off x="5943600" y="1143000"/>
            <a:ext cx="2743200" cy="3291840"/>
          </a:xfrm>
          <a:prstGeom prst="roundRect">
            <a:avLst>
              <a:gd name="adj" fmla="val 2667"/>
            </a:avLst>
          </a:prstGeom>
          <a:solidFill>
            <a:schemeClr val="bg1"/>
          </a:solidFill>
          <a:ln w="12700">
            <a:solidFill>
              <a:srgbClr val="D3DDE0"/>
            </a:solidFill>
            <a:prstDash val="solid"/>
          </a:ln>
        </p:spPr>
      </p:sp>
      <p:sp>
        <p:nvSpPr>
          <p:cNvPr id="6" name="Text 3"/>
          <p:cNvSpPr txBox="1"/>
          <p:nvPr/>
        </p:nvSpPr>
        <p:spPr>
          <a:xfrm>
            <a:off x="6144768" y="1298448"/>
            <a:ext cx="2377440" cy="3063240"/>
          </a:xfrm>
          <a:prstGeom prst="rect">
            <a:avLst/>
          </a:prstGeom>
          <a:noFill/>
          <a:ln/>
        </p:spPr>
        <p:txBody>
          <a:bodyPr wrap="square" lIns="0" tIns="0" rIns="0" bIns="0" rtlCol="0" anchor="t"/>
          <a:lstStyle/>
          <a:p>
            <a:pPr indent="0" marL="0">
              <a:spcAft>
                <a:spcPts val="400"/>
              </a:spcAft>
              <a:buNone/>
            </a:pPr>
            <a:r>
              <a:rPr lang="en-US" sz="1400" b="1" dirty="0">
                <a:solidFill>
                  <a:schemeClr val="accent3"/>
                </a:solidFill>
              </a:rPr>
              <a:t>Gets right</a:t>
            </a:r>
            <a:endParaRPr lang="en-US" sz="1400" dirty="0"/>
          </a:p>
          <a:p>
            <a:pPr indent="0" marL="0">
              <a:spcAft>
                <a:spcPts val="400"/>
              </a:spcAft>
              <a:buNone/>
            </a:pPr>
            <a:r>
              <a:rPr lang="en-US" sz="1300" dirty="0">
                <a:solidFill>
                  <a:schemeClr val="tx1"/>
                </a:solidFill>
              </a:rPr>
              <a:t>The tide-to-tide rhythm, especially late Winter and Spring.</a:t>
            </a:r>
            <a:endParaRPr lang="en-US" sz="1400" dirty="0"/>
          </a:p>
          <a:p>
            <a:pPr indent="0" marL="0">
              <a:spcAft>
                <a:spcPts val="400"/>
              </a:spcAft>
              <a:buNone/>
            </a:pPr>
            <a:r>
              <a:rPr lang="en-US" sz="800" dirty="0">
                <a:solidFill>
                  <a:schemeClr val="tx1"/>
                </a:solidFill>
              </a:rPr>
              <a:t> </a:t>
            </a:r>
            <a:endParaRPr lang="en-US" sz="1400" dirty="0"/>
          </a:p>
          <a:p>
            <a:pPr indent="0" marL="0">
              <a:spcAft>
                <a:spcPts val="400"/>
              </a:spcAft>
              <a:buNone/>
            </a:pPr>
            <a:r>
              <a:rPr lang="en-US" sz="1400" b="1" dirty="0">
                <a:solidFill>
                  <a:schemeClr val="accent6"/>
                </a:solidFill>
              </a:rPr>
              <a:t>Gets wrong</a:t>
            </a:r>
            <a:endParaRPr lang="en-US" sz="1400" dirty="0"/>
          </a:p>
          <a:p>
            <a:pPr indent="0" marL="0">
              <a:spcAft>
                <a:spcPts val="400"/>
              </a:spcAft>
              <a:buNone/>
            </a:pPr>
            <a:r>
              <a:rPr lang="en-US" sz="1300" dirty="0">
                <a:solidFill>
                  <a:schemeClr val="tx1"/>
                </a:solidFill>
              </a:rPr>
              <a:t>Multi-day shifts in the average size, such as early Winter and late Summer. These are likely driven by biology and by where the mud comes from, which we cannot measure.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Conclusions</a:t>
            </a:r>
            <a:endParaRPr lang="en-US" sz="3000" dirty="0"/>
          </a:p>
        </p:txBody>
      </p:sp>
      <p:sp>
        <p:nvSpPr>
          <p:cNvPr id="3" name="Conclusion badge 1"/>
          <p:cNvSpPr/>
          <p:nvPr/>
        </p:nvSpPr>
        <p:spPr>
          <a:xfrm>
            <a:off x="457200" y="1188720"/>
            <a:ext cx="384048" cy="384048"/>
          </a:xfrm>
          <a:prstGeom prst="ellipse">
            <a:avLst/>
          </a:prstGeom>
          <a:solidFill>
            <a:schemeClr val="accent2"/>
          </a:solidFill>
          <a:ln w="12700">
            <a:solidFill>
              <a:schemeClr val="accent2"/>
            </a:solidFill>
            <a:prstDash val="solid"/>
          </a:ln>
        </p:spPr>
      </p:sp>
      <p:sp>
        <p:nvSpPr>
          <p:cNvPr id="4" name="Conclusion badge 1 label"/>
          <p:cNvSpPr txBox="1"/>
          <p:nvPr/>
        </p:nvSpPr>
        <p:spPr>
          <a:xfrm>
            <a:off x="457200" y="1188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1005840" y="1207008"/>
            <a:ext cx="7680960" cy="731520"/>
          </a:xfrm>
          <a:prstGeom prst="rect">
            <a:avLst/>
          </a:prstGeom>
          <a:noFill/>
          <a:ln/>
        </p:spPr>
        <p:txBody>
          <a:bodyPr wrap="square" lIns="0" tIns="0" rIns="0" bIns="0" rtlCol="0" anchor="t"/>
          <a:lstStyle/>
          <a:p>
            <a:pPr indent="0" marL="0">
              <a:spcAft>
                <a:spcPts val="400"/>
              </a:spcAft>
              <a:buNone/>
            </a:pPr>
            <a:r>
              <a:rPr lang="en-US" sz="1500" dirty="0">
                <a:solidFill>
                  <a:schemeClr val="bg1"/>
                </a:solidFill>
              </a:rPr>
              <a:t>The physics matches the published paper: waves break flocs, and the delayed tide brings larger ones.</a:t>
            </a:r>
            <a:endParaRPr lang="en-US" sz="1500" dirty="0"/>
          </a:p>
        </p:txBody>
      </p:sp>
      <p:sp>
        <p:nvSpPr>
          <p:cNvPr id="6" name="Conclusion badge 2"/>
          <p:cNvSpPr/>
          <p:nvPr/>
        </p:nvSpPr>
        <p:spPr>
          <a:xfrm>
            <a:off x="457200" y="1993392"/>
            <a:ext cx="384048" cy="384048"/>
          </a:xfrm>
          <a:prstGeom prst="ellipse">
            <a:avLst/>
          </a:prstGeom>
          <a:solidFill>
            <a:schemeClr val="accent2"/>
          </a:solidFill>
          <a:ln w="12700">
            <a:solidFill>
              <a:schemeClr val="accent2"/>
            </a:solidFill>
            <a:prstDash val="solid"/>
          </a:ln>
        </p:spPr>
      </p:sp>
      <p:sp>
        <p:nvSpPr>
          <p:cNvPr id="7" name="Conclusion badge 2 label"/>
          <p:cNvSpPr txBox="1"/>
          <p:nvPr/>
        </p:nvSpPr>
        <p:spPr>
          <a:xfrm>
            <a:off x="457200" y="199339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ext 6"/>
          <p:cNvSpPr txBox="1"/>
          <p:nvPr/>
        </p:nvSpPr>
        <p:spPr>
          <a:xfrm>
            <a:off x="1005840" y="2011680"/>
            <a:ext cx="7680960" cy="731520"/>
          </a:xfrm>
          <a:prstGeom prst="rect">
            <a:avLst/>
          </a:prstGeom>
          <a:noFill/>
          <a:ln/>
        </p:spPr>
        <p:txBody>
          <a:bodyPr wrap="square" lIns="0" tIns="0" rIns="0" bIns="0" rtlCol="0" anchor="t"/>
          <a:lstStyle/>
          <a:p>
            <a:pPr indent="0" marL="0">
              <a:spcAft>
                <a:spcPts val="400"/>
              </a:spcAft>
              <a:buNone/>
            </a:pPr>
            <a:r>
              <a:rPr lang="en-US" sz="1500" dirty="0">
                <a:solidFill>
                  <a:schemeClr val="bg1"/>
                </a:solidFill>
              </a:rPr>
              <a:t>Physics alone explains about a third of floc-size variation across seasons (r² 0.34) and very little within one season.</a:t>
            </a:r>
            <a:endParaRPr lang="en-US" sz="1500" dirty="0"/>
          </a:p>
        </p:txBody>
      </p:sp>
      <p:sp>
        <p:nvSpPr>
          <p:cNvPr id="9" name="Conclusion badge 3"/>
          <p:cNvSpPr/>
          <p:nvPr/>
        </p:nvSpPr>
        <p:spPr>
          <a:xfrm>
            <a:off x="457200" y="2798064"/>
            <a:ext cx="384048" cy="384048"/>
          </a:xfrm>
          <a:prstGeom prst="ellipse">
            <a:avLst/>
          </a:prstGeom>
          <a:solidFill>
            <a:schemeClr val="accent2"/>
          </a:solidFill>
          <a:ln w="12700">
            <a:solidFill>
              <a:schemeClr val="accent2"/>
            </a:solidFill>
            <a:prstDash val="solid"/>
          </a:ln>
        </p:spPr>
      </p:sp>
      <p:sp>
        <p:nvSpPr>
          <p:cNvPr id="10" name="Conclusion badge 3 label"/>
          <p:cNvSpPr txBox="1"/>
          <p:nvPr/>
        </p:nvSpPr>
        <p:spPr>
          <a:xfrm>
            <a:off x="457200" y="279806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ext 9"/>
          <p:cNvSpPr txBox="1"/>
          <p:nvPr/>
        </p:nvSpPr>
        <p:spPr>
          <a:xfrm>
            <a:off x="1005840" y="2816352"/>
            <a:ext cx="7680960" cy="731520"/>
          </a:xfrm>
          <a:prstGeom prst="rect">
            <a:avLst/>
          </a:prstGeom>
          <a:noFill/>
          <a:ln/>
        </p:spPr>
        <p:txBody>
          <a:bodyPr wrap="square" lIns="0" tIns="0" rIns="0" bIns="0" rtlCol="0" anchor="t"/>
          <a:lstStyle/>
          <a:p>
            <a:pPr indent="0" marL="0">
              <a:spcAft>
                <a:spcPts val="400"/>
              </a:spcAft>
              <a:buNone/>
            </a:pPr>
            <a:r>
              <a:rPr lang="en-US" sz="1500" dirty="0">
                <a:solidFill>
                  <a:schemeClr val="bg1"/>
                </a:solidFill>
              </a:rPr>
              <a:t>Random splits inflate accuracy: the same model scores 0.64 that way, which explains much of the class paper's 0.81.</a:t>
            </a:r>
            <a:endParaRPr lang="en-US" sz="1500" dirty="0"/>
          </a:p>
        </p:txBody>
      </p:sp>
      <p:sp>
        <p:nvSpPr>
          <p:cNvPr id="12" name="Conclusion badge 4"/>
          <p:cNvSpPr/>
          <p:nvPr/>
        </p:nvSpPr>
        <p:spPr>
          <a:xfrm>
            <a:off x="457200" y="3602736"/>
            <a:ext cx="384048" cy="384048"/>
          </a:xfrm>
          <a:prstGeom prst="ellipse">
            <a:avLst/>
          </a:prstGeom>
          <a:solidFill>
            <a:schemeClr val="accent2"/>
          </a:solidFill>
          <a:ln w="12700">
            <a:solidFill>
              <a:schemeClr val="accent2"/>
            </a:solidFill>
            <a:prstDash val="solid"/>
          </a:ln>
        </p:spPr>
      </p:sp>
      <p:sp>
        <p:nvSpPr>
          <p:cNvPr id="13" name="Conclusion badge 4 label"/>
          <p:cNvSpPr txBox="1"/>
          <p:nvPr/>
        </p:nvSpPr>
        <p:spPr>
          <a:xfrm>
            <a:off x="457200" y="3602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ext 12"/>
          <p:cNvSpPr txBox="1"/>
          <p:nvPr/>
        </p:nvSpPr>
        <p:spPr>
          <a:xfrm>
            <a:off x="1005840" y="3621024"/>
            <a:ext cx="7680960" cy="731520"/>
          </a:xfrm>
          <a:prstGeom prst="rect">
            <a:avLst/>
          </a:prstGeom>
          <a:noFill/>
          <a:ln/>
        </p:spPr>
        <p:txBody>
          <a:bodyPr wrap="square" lIns="0" tIns="0" rIns="0" bIns="0" rtlCol="0" anchor="t"/>
          <a:lstStyle/>
          <a:p>
            <a:pPr indent="0" marL="0">
              <a:spcAft>
                <a:spcPts val="400"/>
              </a:spcAft>
              <a:buNone/>
            </a:pPr>
            <a:r>
              <a:rPr lang="en-US" sz="1500" dirty="0">
                <a:solidFill>
                  <a:schemeClr val="bg1"/>
                </a:solidFill>
              </a:rPr>
              <a:t>A model meant to last years needs biology and sediment sensors and more deployments, more than a new algorithm.</a:t>
            </a:r>
            <a:endParaRPr lang="en-US" sz="1500" dirty="0"/>
          </a:p>
        </p:txBody>
      </p:sp>
      <p:sp>
        <p:nvSpPr>
          <p:cNvPr id="15" name="Text 13"/>
          <p:cNvSpPr txBox="1"/>
          <p:nvPr/>
        </p:nvSpPr>
        <p:spPr>
          <a:xfrm>
            <a:off x="457200" y="4434840"/>
            <a:ext cx="7589520" cy="320040"/>
          </a:xfrm>
          <a:prstGeom prst="rect">
            <a:avLst/>
          </a:prstGeom>
          <a:noFill/>
          <a:ln/>
        </p:spPr>
        <p:txBody>
          <a:bodyPr wrap="square" lIns="0" tIns="0" rIns="0" bIns="0" rtlCol="0" anchor="t"/>
          <a:lstStyle/>
          <a:p>
            <a:pPr indent="0" marL="0">
              <a:spcAft>
                <a:spcPts val="400"/>
              </a:spcAft>
              <a:buNone/>
            </a:pPr>
            <a:r>
              <a:rPr lang="en-US" sz="1200" i="1" dirty="0">
                <a:solidFill>
                  <a:schemeClr val="bg2"/>
                </a:solidFill>
              </a:rPr>
              <a:t>Next step: add the same team's Dryad optics data (15 cm sizer, particle-type index) for a closer replication.</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Comparison and reasons for the difference</a:t>
            </a:r>
            <a:endParaRPr lang="en-US" sz="3000" dirty="0"/>
          </a:p>
        </p:txBody>
      </p:sp>
      <p:graphicFrame>
        <p:nvGraphicFramePr>
          <p:cNvPr id="15" name="Comparison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143000"/>
                <a:gridCol w="2194560"/>
                <a:gridCol w="2057400"/>
                <a:gridCol w="2834640"/>
              </a:tblGrid>
              <a:tr h="329184">
                <a:tc>
                  <a:txBody>
                    <a:bodyPr/>
                    <a:lstStyle/>
                    <a:p>
                      <a:pPr indent="0" marL="0">
                        <a:buNone/>
                      </a:pP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Journal paper (2022)</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Class paper (CS229)</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This project</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solidFill>
                      <a:schemeClr val="tx2"/>
                    </a:solidFill>
                  </a:tcPr>
                </a:tc>
              </a:tr>
              <a:tr h="384048">
                <a:tc>
                  <a:txBody>
                    <a:bodyPr/>
                    <a:lstStyle/>
                    <a:p>
                      <a:pPr indent="0" marL="0">
                        <a:buNone/>
                      </a:pPr>
                      <a:r>
                        <a:rPr lang="en-US" sz="1200" b="1" dirty="0">
                          <a:solidFill>
                            <a:schemeClr val="tx1"/>
                          </a:solidFill>
                        </a:rPr>
                        <a:t>Inputs</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11: physics, biology, sediment</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8: physics, biology</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6: physics only</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r>
              <a:tr h="384048">
                <a:tc>
                  <a:txBody>
                    <a:bodyPr/>
                    <a:lstStyle/>
                    <a:p>
                      <a:pPr indent="0" marL="0">
                        <a:buNone/>
                      </a:pPr>
                      <a:r>
                        <a:rPr lang="en-US" sz="1200" b="1" dirty="0">
                          <a:solidFill>
                            <a:schemeClr val="tx1"/>
                          </a:solidFill>
                        </a:rPr>
                        <a:t>Location</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Optics platform, sizer 15 cm</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Same as journal</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Platform P2, sizer 35 cm</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r>
              <a:tr h="384048">
                <a:tc>
                  <a:txBody>
                    <a:bodyPr/>
                    <a:lstStyle/>
                    <a:p>
                      <a:pPr indent="0" marL="0">
                        <a:buNone/>
                      </a:pPr>
                      <a:r>
                        <a:rPr lang="en-US" sz="1200" b="1" dirty="0">
                          <a:solidFill>
                            <a:schemeClr val="tx1"/>
                          </a:solidFill>
                        </a:rPr>
                        <a:t>Model</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LASSO + feature elimination</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Random Forest, SVR</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Random Forest (main), SVR, LASSO</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r>
              <a:tr h="384048">
                <a:tc>
                  <a:txBody>
                    <a:bodyPr/>
                    <a:lstStyle/>
                    <a:p>
                      <a:pPr indent="0" marL="0">
                        <a:buNone/>
                      </a:pPr>
                      <a:r>
                        <a:rPr lang="en-US" sz="1200" b="1" dirty="0">
                          <a:solidFill>
                            <a:schemeClr val="tx1"/>
                          </a:solidFill>
                        </a:rPr>
                        <a:t>How scored</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Fit on its own data</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Random 70/30 split</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Held-out time blocks, plus both of theirs</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r>
              <a:tr h="502920">
                <a:tc>
                  <a:txBody>
                    <a:bodyPr/>
                    <a:lstStyle/>
                    <a:p>
                      <a:pPr indent="0" marL="0">
                        <a:buNone/>
                      </a:pPr>
                      <a:r>
                        <a:rPr lang="en-US" sz="1200" b="1" dirty="0">
                          <a:solidFill>
                            <a:schemeClr val="tx1"/>
                          </a:solidFill>
                        </a:rPr>
                        <a:t>Reported r²</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0.15 to 0.65</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0.81 (RF), 0.76 (SVR)</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c>
                  <a:txBody>
                    <a:bodyPr/>
                    <a:lstStyle/>
                    <a:p>
                      <a:pPr indent="0" marL="0">
                        <a:buNone/>
                      </a:pPr>
                      <a:r>
                        <a:rPr lang="en-US" sz="1200" dirty="0">
                          <a:solidFill>
                            <a:schemeClr val="tx1"/>
                          </a:solidFill>
                        </a:rPr>
                        <a:t>0.34 held-out; 0.60 / 0.53 class setup; 0.17 to 0.43 fit</a:t>
                      </a:r>
                      <a:endParaRPr lang="en-US" sz="1200" dirty="0"/>
                    </a:p>
                  </a:txBody>
                  <a:tcPr marL="45720" marR="45720" marT="45720" marB="45720" anchor="ctr">
                    <a:lnL w="9525" cap="flat" cmpd="sng" algn="ctr">
                      <a:solidFill>
                        <a:srgbClr val="D3DDE0"/>
                      </a:solidFill>
                      <a:prstDash val="solid"/>
                      <a:round/>
                      <a:headEnd type="none" w="med" len="med"/>
                      <a:tailEnd type="none" w="med" len="med"/>
                    </a:lnL>
                    <a:lnR w="9525" cap="flat" cmpd="sng" algn="ctr">
                      <a:solidFill>
                        <a:srgbClr val="D3DDE0"/>
                      </a:solidFill>
                      <a:prstDash val="solid"/>
                      <a:round/>
                      <a:headEnd type="none" w="med" len="med"/>
                      <a:tailEnd type="none" w="med" len="med"/>
                    </a:lnR>
                    <a:lnT w="9525" cap="flat" cmpd="sng" algn="ctr">
                      <a:solidFill>
                        <a:srgbClr val="D3DDE0"/>
                      </a:solidFill>
                      <a:prstDash val="solid"/>
                      <a:round/>
                      <a:headEnd type="none" w="med" len="med"/>
                      <a:tailEnd type="none" w="med" len="med"/>
                    </a:lnT>
                    <a:lnB w="9525" cap="flat" cmpd="sng" algn="ctr">
                      <a:solidFill>
                        <a:srgbClr val="D3DDE0"/>
                      </a:solidFill>
                      <a:prstDash val="solid"/>
                      <a:round/>
                      <a:headEnd type="none" w="med" len="med"/>
                      <a:tailEnd type="none" w="med" len="med"/>
                    </a:lnB>
                  </a:tcPr>
                </a:tc>
              </a:tr>
            </a:tbl>
          </a:graphicData>
        </a:graphic>
      </p:graphicFrame>
      <p:sp>
        <p:nvSpPr>
          <p:cNvPr id="4" name="Reason badge 1"/>
          <p:cNvSpPr/>
          <p:nvPr/>
        </p:nvSpPr>
        <p:spPr>
          <a:xfrm>
            <a:off x="457200" y="3794760"/>
            <a:ext cx="384048" cy="384048"/>
          </a:xfrm>
          <a:prstGeom prst="ellipse">
            <a:avLst/>
          </a:prstGeom>
          <a:solidFill>
            <a:schemeClr val="accent2"/>
          </a:solidFill>
          <a:ln w="12700">
            <a:solidFill>
              <a:schemeClr val="accent2"/>
            </a:solidFill>
            <a:prstDash val="solid"/>
          </a:ln>
        </p:spPr>
      </p:sp>
      <p:sp>
        <p:nvSpPr>
          <p:cNvPr id="5" name="Reason badge 1 label"/>
          <p:cNvSpPr txBox="1"/>
          <p:nvPr/>
        </p:nvSpPr>
        <p:spPr>
          <a:xfrm>
            <a:off x="457200" y="37947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960120" y="3749040"/>
            <a:ext cx="2194560" cy="960120"/>
          </a:xfrm>
          <a:prstGeom prst="rect">
            <a:avLst/>
          </a:prstGeom>
          <a:noFill/>
          <a:ln/>
        </p:spPr>
        <p:txBody>
          <a:bodyPr wrap="square" lIns="0" tIns="0" rIns="0" bIns="0" rtlCol="0" anchor="t"/>
          <a:lstStyle/>
          <a:p>
            <a:pPr indent="0" marL="0">
              <a:spcAft>
                <a:spcPts val="400"/>
              </a:spcAft>
              <a:buNone/>
            </a:pPr>
            <a:r>
              <a:rPr lang="en-US" sz="1300" b="1" dirty="0">
                <a:solidFill>
                  <a:schemeClr val="tx2"/>
                </a:solidFill>
              </a:rPr>
              <a:t>Missing inputs</a:t>
            </a:r>
            <a:endParaRPr lang="en-US" sz="1400" dirty="0"/>
          </a:p>
          <a:p>
            <a:pPr indent="0" marL="0">
              <a:spcAft>
                <a:spcPts val="400"/>
              </a:spcAft>
              <a:buNone/>
            </a:pPr>
            <a:r>
              <a:rPr lang="en-US" sz="1200" dirty="0">
                <a:solidFill>
                  <a:schemeClr val="tx1"/>
                </a:solidFill>
              </a:rPr>
              <a:t>No particle-type or chlorophyll data. These drive spring and multi-day changes.</a:t>
            </a:r>
            <a:endParaRPr lang="en-US" sz="1400" dirty="0"/>
          </a:p>
        </p:txBody>
      </p:sp>
      <p:sp>
        <p:nvSpPr>
          <p:cNvPr id="7" name="Reason badge 2"/>
          <p:cNvSpPr/>
          <p:nvPr/>
        </p:nvSpPr>
        <p:spPr>
          <a:xfrm>
            <a:off x="3264408" y="3794760"/>
            <a:ext cx="384048" cy="384048"/>
          </a:xfrm>
          <a:prstGeom prst="ellipse">
            <a:avLst/>
          </a:prstGeom>
          <a:solidFill>
            <a:schemeClr val="accent2"/>
          </a:solidFill>
          <a:ln w="12700">
            <a:solidFill>
              <a:schemeClr val="accent2"/>
            </a:solidFill>
            <a:prstDash val="solid"/>
          </a:ln>
        </p:spPr>
      </p:sp>
      <p:sp>
        <p:nvSpPr>
          <p:cNvPr id="8" name="Reason badge 2 label"/>
          <p:cNvSpPr txBox="1"/>
          <p:nvPr/>
        </p:nvSpPr>
        <p:spPr>
          <a:xfrm>
            <a:off x="3264408" y="37947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6"/>
          <p:cNvSpPr txBox="1"/>
          <p:nvPr/>
        </p:nvSpPr>
        <p:spPr>
          <a:xfrm>
            <a:off x="3767328" y="3749040"/>
            <a:ext cx="2194560" cy="960120"/>
          </a:xfrm>
          <a:prstGeom prst="rect">
            <a:avLst/>
          </a:prstGeom>
          <a:noFill/>
          <a:ln/>
        </p:spPr>
        <p:txBody>
          <a:bodyPr wrap="square" lIns="0" tIns="0" rIns="0" bIns="0" rtlCol="0" anchor="t"/>
          <a:lstStyle/>
          <a:p>
            <a:pPr indent="0" marL="0">
              <a:spcAft>
                <a:spcPts val="400"/>
              </a:spcAft>
              <a:buNone/>
            </a:pPr>
            <a:r>
              <a:rPr lang="en-US" sz="1300" b="1" dirty="0">
                <a:solidFill>
                  <a:schemeClr val="tx2"/>
                </a:solidFill>
              </a:rPr>
              <a:t>Scoring method</a:t>
            </a:r>
            <a:endParaRPr lang="en-US" sz="1400" dirty="0"/>
          </a:p>
          <a:p>
            <a:pPr indent="0" marL="0">
              <a:spcAft>
                <a:spcPts val="400"/>
              </a:spcAft>
              <a:buNone/>
            </a:pPr>
            <a:r>
              <a:rPr lang="en-US" sz="1200" dirty="0">
                <a:solidFill>
                  <a:schemeClr val="tx1"/>
                </a:solidFill>
              </a:rPr>
              <a:t>Random splits and fits on the same data reward memorising neighbouring hours.</a:t>
            </a:r>
            <a:endParaRPr lang="en-US" sz="1400" dirty="0"/>
          </a:p>
        </p:txBody>
      </p:sp>
      <p:sp>
        <p:nvSpPr>
          <p:cNvPr id="10" name="Reason badge 3"/>
          <p:cNvSpPr/>
          <p:nvPr/>
        </p:nvSpPr>
        <p:spPr>
          <a:xfrm>
            <a:off x="6071616" y="3794760"/>
            <a:ext cx="384048" cy="384048"/>
          </a:xfrm>
          <a:prstGeom prst="ellipse">
            <a:avLst/>
          </a:prstGeom>
          <a:solidFill>
            <a:schemeClr val="accent2"/>
          </a:solidFill>
          <a:ln w="12700">
            <a:solidFill>
              <a:schemeClr val="accent2"/>
            </a:solidFill>
            <a:prstDash val="solid"/>
          </a:ln>
        </p:spPr>
      </p:sp>
      <p:sp>
        <p:nvSpPr>
          <p:cNvPr id="11" name="Reason badge 3 label"/>
          <p:cNvSpPr txBox="1"/>
          <p:nvPr/>
        </p:nvSpPr>
        <p:spPr>
          <a:xfrm>
            <a:off x="6071616" y="37947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2" name="Text 9"/>
          <p:cNvSpPr txBox="1"/>
          <p:nvPr/>
        </p:nvSpPr>
        <p:spPr>
          <a:xfrm>
            <a:off x="6574536" y="3749040"/>
            <a:ext cx="2194560" cy="960120"/>
          </a:xfrm>
          <a:prstGeom prst="rect">
            <a:avLst/>
          </a:prstGeom>
          <a:noFill/>
          <a:ln/>
        </p:spPr>
        <p:txBody>
          <a:bodyPr wrap="square" lIns="0" tIns="0" rIns="0" bIns="0" rtlCol="0" anchor="t"/>
          <a:lstStyle/>
          <a:p>
            <a:pPr indent="0" marL="0">
              <a:spcAft>
                <a:spcPts val="400"/>
              </a:spcAft>
              <a:buNone/>
            </a:pPr>
            <a:r>
              <a:rPr lang="en-US" sz="1300" b="1" dirty="0">
                <a:solidFill>
                  <a:schemeClr val="tx2"/>
                </a:solidFill>
              </a:rPr>
              <a:t>Different spot</a:t>
            </a:r>
            <a:endParaRPr lang="en-US" sz="1400" dirty="0"/>
          </a:p>
          <a:p>
            <a:pPr indent="0" marL="0">
              <a:spcAft>
                <a:spcPts val="400"/>
              </a:spcAft>
              <a:buNone/>
            </a:pPr>
            <a:r>
              <a:rPr lang="en-US" sz="1200" dirty="0">
                <a:solidFill>
                  <a:schemeClr val="tx1"/>
                </a:solidFill>
              </a:rPr>
              <a:t>35 cm vs 15 cm above the bed, and a different platform.</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stuary">
  <a:themeElements>
    <a:clrScheme name="Estuary">
      <a:dk1>
        <a:srgbClr val="1B2A33"/>
      </a:dk1>
      <a:lt1>
        <a:srgbClr val="FFFFFF"/>
      </a:lt1>
      <a:dk2>
        <a:srgbClr val="1F4E5F"/>
      </a:dk2>
      <a:lt2>
        <a:srgbClr val="EEF3F4"/>
      </a:lt2>
      <a:accent1>
        <a:srgbClr val="1F4E5F"/>
      </a:accent1>
      <a:accent2>
        <a:srgbClr val="B8732A"/>
      </a:accent2>
      <a:accent3>
        <a:srgbClr val="6B8F71"/>
      </a:accent3>
      <a:accent4>
        <a:srgbClr val="8A6E5A"/>
      </a:accent4>
      <a:accent5>
        <a:srgbClr val="5C7A89"/>
      </a:accent5>
      <a:accent6>
        <a:srgbClr val="A23B3B"/>
      </a:accent6>
      <a:hlink>
        <a:srgbClr val="1F4E5F"/>
      </a:hlink>
      <a:folHlink>
        <a:srgbClr val="5C7A89"/>
      </a:folHlink>
    </a:clrScheme>
    <a:fontScheme name="Estua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floc size in South San Francisco Bay</dc:title>
  <dc:subject>PptxGenJS Presentation</dc:subject>
  <dc:creator>ML Mini Project</dc:creator>
  <cp:lastModifiedBy>ML Mini Project</cp:lastModifiedBy>
  <cp:revision>1</cp:revision>
  <dcterms:created xsi:type="dcterms:W3CDTF">2026-10-04T18:49:18Z</dcterms:created>
  <dcterms:modified xsi:type="dcterms:W3CDTF">2026-10-04T18:49:18Z</dcterms:modified>
</cp:coreProperties>
</file>